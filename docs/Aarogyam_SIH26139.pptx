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3B52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3B3B52"/>
                </a:solidFill>
                <a:latin typeface="Calibri"/>
              </a:rPr>
              <a:t>ROC-AUC on each held-out test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classical</c:v>
                </c:pt>
              </c:strCache>
            </c:strRef>
          </c:tx>
          <c:spPr>
            <a:solidFill>
              <a:srgbClr val="2F6FB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BRCA
(genomics)</c:v>
                  </c:pt>
                  <c:pt idx="1">
                    <c:v>Breast
(imaging)</c:v>
                  </c:pt>
                  <c:pt idx="2">
                    <c:v>Heart
(records)</c:v>
                  </c:pt>
                  <c:pt idx="3">
                    <c:v>Parkinson's
(voice)</c:v>
                  </c:pt>
                  <c:pt idx="4">
                    <c:v>Diabetes
(records)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99.76</c:v>
                </c:pt>
                <c:pt idx="1">
                  <c:v>99.64</c:v>
                </c:pt>
                <c:pt idx="2">
                  <c:v>92.75</c:v>
                </c:pt>
                <c:pt idx="3">
                  <c:v>91.72</c:v>
                </c:pt>
                <c:pt idx="4">
                  <c:v>79.41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quantum</c:v>
                </c:pt>
              </c:strCache>
            </c:strRef>
          </c:tx>
          <c:spPr>
            <a:solidFill>
              <a:srgbClr val="7A4D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BRCA
(genomics)</c:v>
                  </c:pt>
                  <c:pt idx="1">
                    <c:v>Breast
(imaging)</c:v>
                  </c:pt>
                  <c:pt idx="2">
                    <c:v>Heart
(records)</c:v>
                  </c:pt>
                  <c:pt idx="3">
                    <c:v>Parkinson's
(voice)</c:v>
                  </c:pt>
                  <c:pt idx="4">
                    <c:v>Diabetes
(records)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99.01</c:v>
                </c:pt>
                <c:pt idx="1">
                  <c:v>99.77</c:v>
                </c:pt>
                <c:pt idx="2">
                  <c:v>94.91</c:v>
                </c:pt>
                <c:pt idx="3">
                  <c:v>87.93</c:v>
                </c:pt>
                <c:pt idx="4">
                  <c:v>76.22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E08A1E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BRCA
(genomics)</c:v>
                  </c:pt>
                  <c:pt idx="1">
                    <c:v>Breast
(imaging)</c:v>
                  </c:pt>
                  <c:pt idx="2">
                    <c:v>Heart
(records)</c:v>
                  </c:pt>
                  <c:pt idx="3">
                    <c:v>Parkinson's
(voice)</c:v>
                  </c:pt>
                  <c:pt idx="4">
                    <c:v>Diabetes
(records)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99.77</c:v>
                </c:pt>
                <c:pt idx="1">
                  <c:v>99.6</c:v>
                </c:pt>
                <c:pt idx="2">
                  <c:v>92.86</c:v>
                </c:pt>
                <c:pt idx="3">
                  <c:v>88.62</c:v>
                </c:pt>
                <c:pt idx="4">
                  <c:v>79.58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12700" cap="flat">
              <a:solidFill>
                <a:srgbClr val="DF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B3B5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B3B52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3B3B52"/>
                </a:solidFill>
                <a:latin typeface="Calibri"/>
              </a:rPr>
              <a:t>Why the quantum kernel fails — measured first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Off-diagonal spread</c:v>
                </c:pt>
              </c:strCache>
            </c:strRef>
          </c:tx>
          <c:spPr>
            <a:solidFill>
              <a:srgbClr val="D8455F"/>
            </a:solidFill>
            <a:ln w="38100" cap="flat">
              <a:solidFill>
                <a:srgbClr val="D845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8455F"/>
              </a:solidFill>
              <a:ln w="9525" cap="flat">
                <a:solidFill>
                  <a:srgbClr val="D845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2q</c:v>
                  </c:pt>
                  <c:pt idx="1">
                    <c:v>3q</c:v>
                  </c:pt>
                  <c:pt idx="2">
                    <c:v>4q</c:v>
                  </c:pt>
                  <c:pt idx="3">
                    <c:v>5q</c:v>
                  </c:pt>
                  <c:pt idx="4">
                    <c:v>6q</c:v>
                  </c:pt>
                  <c:pt idx="5">
                    <c:v>7q</c:v>
                  </c:pt>
                  <c:pt idx="6">
                    <c:v>8q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0.26383</c:v>
                </c:pt>
                <c:pt idx="1">
                  <c:v>0.14378</c:v>
                </c:pt>
                <c:pt idx="2">
                  <c:v>0.07371</c:v>
                </c:pt>
                <c:pt idx="3">
                  <c:v>0.03818</c:v>
                </c:pt>
                <c:pt idx="4">
                  <c:v>0.01952</c:v>
                </c:pt>
                <c:pt idx="5">
                  <c:v>0.01029</c:v>
                </c:pt>
                <c:pt idx="6">
                  <c:v>0.00569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Kernel-target alignment</c:v>
                </c:pt>
              </c:strCache>
            </c:strRef>
          </c:tx>
          <c:spPr>
            <a:solidFill>
              <a:srgbClr val="7A4DFF"/>
            </a:solidFill>
            <a:ln w="38100" cap="flat">
              <a:solidFill>
                <a:srgbClr val="7A4D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4DFF"/>
              </a:solidFill>
              <a:ln w="9525" cap="flat">
                <a:solidFill>
                  <a:srgbClr val="7A4D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2q</c:v>
                  </c:pt>
                  <c:pt idx="1">
                    <c:v>3q</c:v>
                  </c:pt>
                  <c:pt idx="2">
                    <c:v>4q</c:v>
                  </c:pt>
                  <c:pt idx="3">
                    <c:v>5q</c:v>
                  </c:pt>
                  <c:pt idx="4">
                    <c:v>6q</c:v>
                  </c:pt>
                  <c:pt idx="5">
                    <c:v>7q</c:v>
                  </c:pt>
                  <c:pt idx="6">
                    <c:v>8q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0.1608</c:v>
                </c:pt>
                <c:pt idx="1">
                  <c:v>0.1178</c:v>
                </c:pt>
                <c:pt idx="2">
                  <c:v>0.1046</c:v>
                </c:pt>
                <c:pt idx="3">
                  <c:v>0.085</c:v>
                </c:pt>
                <c:pt idx="4">
                  <c:v>0.0802</c:v>
                </c:pt>
                <c:pt idx="5">
                  <c:v>0.0664</c:v>
                </c:pt>
                <c:pt idx="6">
                  <c:v>0.0631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F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B3B5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298448" cy="6126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7772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Quantum Machine Learning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for Early Disease Detection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871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B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pipeline. Five diseases. Four clinical domains. Plus whatever you upload.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35478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26139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0128" y="32461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6432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3456432" y="35478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0176" y="32461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35478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BioTech / HealthTech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1605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" y="4251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786384" y="4462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800C4B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10128" y="41605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56432" y="4251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3456432" y="4462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Janta Party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0176" y="4160520"/>
            <a:ext cx="2487168" cy="731520"/>
          </a:xfrm>
          <a:prstGeom prst="roundRect">
            <a:avLst>
              <a:gd name="adj" fmla="val 10000"/>
            </a:avLst>
          </a:prstGeom>
          <a:solidFill>
            <a:srgbClr val="1F1D3D"/>
          </a:solidFill>
          <a:ln w="12700">
            <a:solidFill>
              <a:srgbClr val="332F5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26480" y="4251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8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6126480" y="4462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benchmarked, open source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732520" y="13716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52560" y="1243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52560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732520" y="18288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052560" y="17007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52560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732520" y="22860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52560" y="21579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52560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732520" y="27432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52560" y="26151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5256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732520" y="32004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052560" y="30723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05256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732520" y="3657600"/>
            <a:ext cx="2834640" cy="0"/>
          </a:xfrm>
          <a:prstGeom prst="line">
            <a:avLst/>
          </a:prstGeom>
          <a:noFill/>
          <a:ln w="12700">
            <a:solidFill>
              <a:srgbClr val="3A356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52560" y="3529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B2A55"/>
          </a:solidFill>
          <a:ln w="12700">
            <a:solidFill>
              <a:srgbClr val="7A4D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52560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9784080" y="1371600"/>
            <a:ext cx="0" cy="4572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733788" y="13213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44" name="Shape 41"/>
          <p:cNvSpPr/>
          <p:nvPr/>
        </p:nvSpPr>
        <p:spPr>
          <a:xfrm>
            <a:off x="9733788" y="17785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45" name="Shape 42"/>
          <p:cNvSpPr/>
          <p:nvPr/>
        </p:nvSpPr>
        <p:spPr>
          <a:xfrm>
            <a:off x="10104120" y="1828800"/>
            <a:ext cx="0" cy="4572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053828" y="17785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47" name="Shape 44"/>
          <p:cNvSpPr/>
          <p:nvPr/>
        </p:nvSpPr>
        <p:spPr>
          <a:xfrm>
            <a:off x="10053828" y="22357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48" name="Shape 45"/>
          <p:cNvSpPr/>
          <p:nvPr/>
        </p:nvSpPr>
        <p:spPr>
          <a:xfrm>
            <a:off x="10469880" y="2286000"/>
            <a:ext cx="0" cy="9144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419588" y="22357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0" name="Shape 47"/>
          <p:cNvSpPr/>
          <p:nvPr/>
        </p:nvSpPr>
        <p:spPr>
          <a:xfrm>
            <a:off x="10419588" y="31501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1" name="Shape 48"/>
          <p:cNvSpPr/>
          <p:nvPr/>
        </p:nvSpPr>
        <p:spPr>
          <a:xfrm>
            <a:off x="10835640" y="2743200"/>
            <a:ext cx="0" cy="9144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785348" y="26929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3" name="Shape 50"/>
          <p:cNvSpPr/>
          <p:nvPr/>
        </p:nvSpPr>
        <p:spPr>
          <a:xfrm>
            <a:off x="10785348" y="36073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4" name="Shape 51"/>
          <p:cNvSpPr/>
          <p:nvPr/>
        </p:nvSpPr>
        <p:spPr>
          <a:xfrm>
            <a:off x="11155680" y="1371600"/>
            <a:ext cx="0" cy="1371600"/>
          </a:xfrm>
          <a:prstGeom prst="line">
            <a:avLst/>
          </a:prstGeom>
          <a:noFill/>
          <a:ln w="17780">
            <a:solidFill>
              <a:srgbClr val="6D4A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105388" y="13213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6" name="Shape 53"/>
          <p:cNvSpPr/>
          <p:nvPr/>
        </p:nvSpPr>
        <p:spPr>
          <a:xfrm>
            <a:off x="11105388" y="2692908"/>
            <a:ext cx="100584" cy="100584"/>
          </a:xfrm>
          <a:prstGeom prst="ellipse">
            <a:avLst/>
          </a:prstGeom>
          <a:solidFill>
            <a:srgbClr val="8F73FF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859536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 · 6 qubits · full entanglement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8732520" y="4846320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2B2A55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8732520" y="4846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QSVM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10241280" y="4846320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2B2A55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10241280" y="4846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8732520" y="5285232"/>
            <a:ext cx="2880360" cy="310896"/>
          </a:xfrm>
          <a:prstGeom prst="roundRect">
            <a:avLst>
              <a:gd name="adj" fmla="val 44118"/>
            </a:avLst>
          </a:prstGeom>
          <a:solidFill>
            <a:srgbClr val="7A4D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732520" y="528523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RE-UPLOADING QNN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Bugs Janta Party  ·  800C4B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diseases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2801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never learns which disease it is looking at — so the same code path serves every dataset, and any CSV a user brings.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1975104"/>
            <a:ext cx="310896" cy="310896"/>
          </a:xfrm>
          <a:prstGeom prst="ellipse">
            <a:avLst/>
          </a:prstGeom>
          <a:solidFill>
            <a:srgbClr val="2A256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impute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15184" y="2432304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14" name="Shape 11"/>
          <p:cNvSpPr/>
          <p:nvPr/>
        </p:nvSpPr>
        <p:spPr>
          <a:xfrm>
            <a:off x="2852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99232" y="1975104"/>
            <a:ext cx="310896" cy="310896"/>
          </a:xfrm>
          <a:prstGeom prst="ellipse">
            <a:avLst/>
          </a:prstGeom>
          <a:solidFill>
            <a:srgbClr val="2A25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999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401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2999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PCA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01184" y="2432304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20" name="Shape 17"/>
          <p:cNvSpPr/>
          <p:nvPr/>
        </p:nvSpPr>
        <p:spPr>
          <a:xfrm>
            <a:off x="5138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EFEDFA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85232" y="1975104"/>
            <a:ext cx="310896" cy="310896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85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687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5285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→ qubits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187184" y="2432304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26" name="Shape 23"/>
          <p:cNvSpPr/>
          <p:nvPr/>
        </p:nvSpPr>
        <p:spPr>
          <a:xfrm>
            <a:off x="7424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1232" y="1975104"/>
            <a:ext cx="310896" cy="310896"/>
          </a:xfrm>
          <a:prstGeom prst="ellipse">
            <a:avLst/>
          </a:prstGeom>
          <a:solidFill>
            <a:srgbClr val="2A256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571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973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7571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classical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quantum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473184" y="2432304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32" name="Shape 29"/>
          <p:cNvSpPr/>
          <p:nvPr/>
        </p:nvSpPr>
        <p:spPr>
          <a:xfrm>
            <a:off x="9710928" y="18288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857232" y="1975104"/>
            <a:ext cx="310896" cy="310896"/>
          </a:xfrm>
          <a:prstGeom prst="ellipse">
            <a:avLst/>
          </a:prstGeom>
          <a:solidFill>
            <a:srgbClr val="2A256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857232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259568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9857232" y="239572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threshold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66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13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D8455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13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endParaRPr lang="en-US" sz="700" dirty="0"/>
          </a:p>
        </p:txBody>
      </p:sp>
      <p:sp>
        <p:nvSpPr>
          <p:cNvPr id="40" name="Text 37"/>
          <p:cNvSpPr txBox="1"/>
          <p:nvPr/>
        </p:nvSpPr>
        <p:spPr>
          <a:xfrm>
            <a:off x="713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Hereditary breast and ovarian cancer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713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20,296 × 22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852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999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D8455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2999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endParaRPr lang="en-US" sz="700" dirty="0"/>
          </a:p>
        </p:txBody>
      </p:sp>
      <p:sp>
        <p:nvSpPr>
          <p:cNvPr id="45" name="Text 42"/>
          <p:cNvSpPr txBox="1"/>
          <p:nvPr/>
        </p:nvSpPr>
        <p:spPr>
          <a:xfrm>
            <a:off x="2999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2999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× 30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imaging-derived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138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285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2F6FB5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285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5285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Coronary artery disease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5285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× 13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424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571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7A4D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7571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</a:t>
            </a:r>
            <a:endParaRPr lang="en-US" sz="700" dirty="0"/>
          </a:p>
        </p:txBody>
      </p:sp>
      <p:sp>
        <p:nvSpPr>
          <p:cNvPr id="55" name="Text 52"/>
          <p:cNvSpPr txBox="1"/>
          <p:nvPr/>
        </p:nvSpPr>
        <p:spPr>
          <a:xfrm>
            <a:off x="7571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Parkinson's disease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7571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× 22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signal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9710928" y="3456432"/>
            <a:ext cx="19933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857232" y="3602736"/>
            <a:ext cx="1051560" cy="237744"/>
          </a:xfrm>
          <a:prstGeom prst="roundRect">
            <a:avLst>
              <a:gd name="adj" fmla="val 57692"/>
            </a:avLst>
          </a:prstGeom>
          <a:solidFill>
            <a:srgbClr val="E08A1E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9857232" y="36027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</a:t>
            </a:r>
            <a:endParaRPr lang="en-US" sz="700" dirty="0"/>
          </a:p>
        </p:txBody>
      </p:sp>
      <p:sp>
        <p:nvSpPr>
          <p:cNvPr id="60" name="Text 57"/>
          <p:cNvSpPr txBox="1"/>
          <p:nvPr/>
        </p:nvSpPr>
        <p:spPr>
          <a:xfrm>
            <a:off x="9857232" y="39136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2 diabetes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857232" y="449884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× 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566928" y="5138928"/>
            <a:ext cx="11055096" cy="841248"/>
          </a:xfrm>
          <a:prstGeom prst="roundRect">
            <a:avLst>
              <a:gd name="adj" fmla="val 9783"/>
            </a:avLst>
          </a:prstGeom>
          <a:solidFill>
            <a:srgbClr val="EFEDFA"/>
          </a:solidFill>
          <a:ln w="12700">
            <a:solidFill>
              <a:srgbClr val="CFC6F5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77240" y="523036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64" name="Text 61"/>
          <p:cNvSpPr txBox="1"/>
          <p:nvPr/>
        </p:nvSpPr>
        <p:spPr>
          <a:xfrm>
            <a:off x="1234440" y="5285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dataset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234440" y="559612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→ profiled, cleaned, encoded, six models trained and benchmarked in the browser — 3.6 seconds on a 569-row table.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front-end, quantum core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645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FRONT-END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9808" y="20116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" y="24688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" y="29260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" y="33832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6112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9808" y="38404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6112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9808" y="42976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6112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9808" y="4754880"/>
            <a:ext cx="28346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6112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51937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· noisy tails · mutual information · PCA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041648" y="1481328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211E4A"/>
          </a:solidFill>
          <a:ln w="12700">
            <a:solidFill>
              <a:srgbClr val="211E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24528" y="1645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A7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REGISTER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315968" y="2148840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97680" y="202996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700016" y="2039112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00016" y="20391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102352" y="2039112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02352" y="20391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315968" y="2459736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297680" y="2340864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4700016" y="2350008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00016" y="235000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102352" y="2350008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102352" y="235000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315968" y="2770632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297680" y="26517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4700016" y="2660904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700016" y="2660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102352" y="2660904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102352" y="2660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315968" y="3081528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297680" y="29626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4700016" y="297180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700016" y="29718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102352" y="2971800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102352" y="29718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315968" y="3392424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297680" y="327355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4700016" y="3282696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700016" y="3282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102352" y="3282696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102352" y="3282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315968" y="3703320"/>
            <a:ext cx="3017520" cy="0"/>
          </a:xfrm>
          <a:prstGeom prst="line">
            <a:avLst/>
          </a:prstGeom>
          <a:noFill/>
          <a:ln w="12700">
            <a:solidFill>
              <a:srgbClr val="3E3872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297680" y="358444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4700016" y="3593592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700016" y="359359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102352" y="3593592"/>
            <a:ext cx="237744" cy="219456"/>
          </a:xfrm>
          <a:prstGeom prst="roundRect">
            <a:avLst>
              <a:gd name="adj" fmla="val 20833"/>
            </a:avLst>
          </a:prstGeom>
          <a:solidFill>
            <a:srgbClr val="2E2A60"/>
          </a:solidFill>
          <a:ln w="9525">
            <a:solidFill>
              <a:srgbClr val="6D4AF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102352" y="359359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5916168" y="2148840"/>
            <a:ext cx="0" cy="310896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870448" y="2103120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64" name="Shape 61"/>
          <p:cNvSpPr/>
          <p:nvPr/>
        </p:nvSpPr>
        <p:spPr>
          <a:xfrm>
            <a:off x="5870448" y="2414016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65" name="Shape 62"/>
          <p:cNvSpPr/>
          <p:nvPr/>
        </p:nvSpPr>
        <p:spPr>
          <a:xfrm>
            <a:off x="6190488" y="2459736"/>
            <a:ext cx="0" cy="621792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144768" y="2414016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67" name="Shape 64"/>
          <p:cNvSpPr/>
          <p:nvPr/>
        </p:nvSpPr>
        <p:spPr>
          <a:xfrm>
            <a:off x="6144768" y="3035808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68" name="Shape 65"/>
          <p:cNvSpPr/>
          <p:nvPr/>
        </p:nvSpPr>
        <p:spPr>
          <a:xfrm>
            <a:off x="6510528" y="2770632"/>
            <a:ext cx="0" cy="932688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464808" y="2724912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0" name="Shape 67"/>
          <p:cNvSpPr/>
          <p:nvPr/>
        </p:nvSpPr>
        <p:spPr>
          <a:xfrm>
            <a:off x="6464808" y="3657600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1" name="Shape 68"/>
          <p:cNvSpPr/>
          <p:nvPr/>
        </p:nvSpPr>
        <p:spPr>
          <a:xfrm>
            <a:off x="6830568" y="2148840"/>
            <a:ext cx="0" cy="1243584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784848" y="2103120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3" name="Shape 70"/>
          <p:cNvSpPr/>
          <p:nvPr/>
        </p:nvSpPr>
        <p:spPr>
          <a:xfrm>
            <a:off x="6784848" y="3346704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4" name="Shape 71"/>
          <p:cNvSpPr/>
          <p:nvPr/>
        </p:nvSpPr>
        <p:spPr>
          <a:xfrm>
            <a:off x="7104888" y="3081528"/>
            <a:ext cx="0" cy="621792"/>
          </a:xfrm>
          <a:prstGeom prst="line">
            <a:avLst/>
          </a:prstGeom>
          <a:noFill/>
          <a:ln w="16510">
            <a:solidFill>
              <a:srgbClr val="8F73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059168" y="3035808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6" name="Shape 73"/>
          <p:cNvSpPr/>
          <p:nvPr/>
        </p:nvSpPr>
        <p:spPr>
          <a:xfrm>
            <a:off x="7059168" y="3657600"/>
            <a:ext cx="91440" cy="91440"/>
          </a:xfrm>
          <a:prstGeom prst="ellipse">
            <a:avLst/>
          </a:prstGeom>
          <a:solidFill>
            <a:srgbClr val="A794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4224528" y="41605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 · 2 reps · full entanglement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4224528" y="4498848"/>
            <a:ext cx="3200400" cy="868680"/>
          </a:xfrm>
          <a:prstGeom prst="roundRect">
            <a:avLst>
              <a:gd name="adj" fmla="val 9474"/>
            </a:avLst>
          </a:prstGeom>
          <a:solidFill>
            <a:srgbClr val="2E2A60"/>
          </a:solidFill>
          <a:ln w="12700">
            <a:solidFill>
              <a:srgbClr val="3E387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315968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K(x, y) = |⟨φ(x)|φ(y)⟩|²   →   K = |Ψ Ψ†|²</a:t>
            </a:r>
            <a:endParaRPr lang="en-US" sz="1150" dirty="0"/>
          </a:p>
        </p:txBody>
      </p:sp>
      <p:sp>
        <p:nvSpPr>
          <p:cNvPr id="80" name="Text 77"/>
          <p:cNvSpPr txBox="1"/>
          <p:nvPr/>
        </p:nvSpPr>
        <p:spPr>
          <a:xfrm>
            <a:off x="4315968" y="49011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form: O(n) state preparations, not O(n²) circuits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7882128" y="1481328"/>
            <a:ext cx="3739896" cy="3977640"/>
          </a:xfrm>
          <a:prstGeom prst="roundRect">
            <a:avLst>
              <a:gd name="adj" fmla="val 2200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065008" y="1645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A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MODELS, ONE ENSEMBLE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8065008" y="201168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193024" y="2125980"/>
            <a:ext cx="109728" cy="10972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8412480" y="201168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86" name="Shape 83"/>
          <p:cNvSpPr/>
          <p:nvPr/>
        </p:nvSpPr>
        <p:spPr>
          <a:xfrm>
            <a:off x="8065008" y="242316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8193024" y="2537460"/>
            <a:ext cx="109728" cy="10972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8412480" y="242316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89" name="Shape 86"/>
          <p:cNvSpPr/>
          <p:nvPr/>
        </p:nvSpPr>
        <p:spPr>
          <a:xfrm>
            <a:off x="8065008" y="283464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8193024" y="2948940"/>
            <a:ext cx="109728" cy="109728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8412480" y="283464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50" dirty="0"/>
          </a:p>
        </p:txBody>
      </p:sp>
      <p:sp>
        <p:nvSpPr>
          <p:cNvPr id="92" name="Shape 89"/>
          <p:cNvSpPr/>
          <p:nvPr/>
        </p:nvSpPr>
        <p:spPr>
          <a:xfrm>
            <a:off x="8065008" y="324612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8193024" y="3360420"/>
            <a:ext cx="109728" cy="109728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8412480" y="324612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QSVM  · quantum kernel</a:t>
            </a:r>
            <a:endParaRPr lang="en-US" sz="1050" dirty="0"/>
          </a:p>
        </p:txBody>
      </p:sp>
      <p:sp>
        <p:nvSpPr>
          <p:cNvPr id="95" name="Shape 92"/>
          <p:cNvSpPr/>
          <p:nvPr/>
        </p:nvSpPr>
        <p:spPr>
          <a:xfrm>
            <a:off x="8065008" y="365760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193024" y="3771900"/>
            <a:ext cx="109728" cy="109728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8412480" y="365760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  · RealAmplitudes</a:t>
            </a:r>
            <a:endParaRPr lang="en-US" sz="1050" dirty="0"/>
          </a:p>
        </p:txBody>
      </p:sp>
      <p:sp>
        <p:nvSpPr>
          <p:cNvPr id="98" name="Shape 95"/>
          <p:cNvSpPr/>
          <p:nvPr/>
        </p:nvSpPr>
        <p:spPr>
          <a:xfrm>
            <a:off x="8065008" y="4069080"/>
            <a:ext cx="3374136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8193024" y="4183380"/>
            <a:ext cx="109728" cy="109728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8412480" y="406908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QNN  · data re-uploading, SPSA</a:t>
            </a:r>
            <a:endParaRPr lang="en-US" sz="1050" dirty="0"/>
          </a:p>
        </p:txBody>
      </p:sp>
      <p:sp>
        <p:nvSpPr>
          <p:cNvPr id="101" name="Shape 98"/>
          <p:cNvSpPr/>
          <p:nvPr/>
        </p:nvSpPr>
        <p:spPr>
          <a:xfrm>
            <a:off x="8065008" y="4553712"/>
            <a:ext cx="3374136" cy="475488"/>
          </a:xfrm>
          <a:prstGeom prst="roundRect">
            <a:avLst>
              <a:gd name="adj" fmla="val 15385"/>
            </a:avLst>
          </a:prstGeom>
          <a:solidFill>
            <a:srgbClr val="E08A1E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8065008" y="4553712"/>
            <a:ext cx="3374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 ·  weights fitted on validation</a:t>
            </a:r>
            <a:endParaRPr lang="en-US" sz="1100" dirty="0"/>
          </a:p>
        </p:txBody>
      </p:sp>
      <p:sp>
        <p:nvSpPr>
          <p:cNvPr id="103" name="Text 100"/>
          <p:cNvSpPr txBox="1"/>
          <p:nvPr/>
        </p:nvSpPr>
        <p:spPr>
          <a:xfrm>
            <a:off x="8065008" y="5102352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member cannot drag its family down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weighted by how far it beats chance.</a:t>
            </a:r>
            <a:endParaRPr lang="en-US" sz="900" dirty="0"/>
          </a:p>
        </p:txBody>
      </p:sp>
      <p:sp>
        <p:nvSpPr>
          <p:cNvPr id="104" name="Shape 101"/>
          <p:cNvSpPr/>
          <p:nvPr/>
        </p:nvSpPr>
        <p:spPr>
          <a:xfrm>
            <a:off x="3803904" y="3383280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105" name="Shape 102"/>
          <p:cNvSpPr/>
          <p:nvPr/>
        </p:nvSpPr>
        <p:spPr>
          <a:xfrm>
            <a:off x="7644384" y="3383280"/>
            <a:ext cx="182880" cy="164592"/>
          </a:xfrm>
          <a:prstGeom prst="rightArrow">
            <a:avLst/>
          </a:prstGeom>
          <a:solidFill>
            <a:srgbClr val="DFDDEE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566928" y="5705856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2.5  ·  scikit-learn 1.9  ·  SHAP  ·  Flask  ·  React + React Three Fiber  ·  Docker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decision, not just a score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66928" y="1444752"/>
            <a:ext cx="54864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9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A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STRATIFICATION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6537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validated against the outcome rate actually observed in each — coronary artery disease, held-out set.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2450592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37760" y="23774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7977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057400" y="2852928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15" name="Shape 12"/>
          <p:cNvSpPr/>
          <p:nvPr/>
        </p:nvSpPr>
        <p:spPr>
          <a:xfrm>
            <a:off x="2057400" y="2852928"/>
            <a:ext cx="371763" cy="164592"/>
          </a:xfrm>
          <a:prstGeom prst="roundRect">
            <a:avLst>
              <a:gd name="adj" fmla="val 50000"/>
            </a:avLst>
          </a:prstGeom>
          <a:solidFill>
            <a:srgbClr val="5FA36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937760" y="27797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1821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057400" y="3255264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19" name="Shape 16"/>
          <p:cNvSpPr/>
          <p:nvPr/>
        </p:nvSpPr>
        <p:spPr>
          <a:xfrm>
            <a:off x="2057400" y="3255264"/>
            <a:ext cx="1115568" cy="164592"/>
          </a:xfrm>
          <a:prstGeom prst="roundRect">
            <a:avLst>
              <a:gd name="adj" fmla="val 50000"/>
            </a:avLst>
          </a:prstGeom>
          <a:solidFill>
            <a:srgbClr val="E0A81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937760" y="31821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A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35844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057400" y="3657600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23" name="Shape 20"/>
          <p:cNvSpPr/>
          <p:nvPr/>
        </p:nvSpPr>
        <p:spPr>
          <a:xfrm>
            <a:off x="2057400" y="3657600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E070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937760" y="35844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9867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057400" y="4059936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27" name="Shape 24"/>
          <p:cNvSpPr/>
          <p:nvPr/>
        </p:nvSpPr>
        <p:spPr>
          <a:xfrm>
            <a:off x="2057400" y="4059936"/>
            <a:ext cx="2510028" cy="164592"/>
          </a:xfrm>
          <a:prstGeom prst="roundRect">
            <a:avLst>
              <a:gd name="adj" fmla="val 50000"/>
            </a:avLst>
          </a:prstGeom>
          <a:solidFill>
            <a:srgbClr val="D8455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937760" y="39867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8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2611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positive rate climbs from 0% in the lowest band to 90–100% in the top two.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236208" y="1444752"/>
            <a:ext cx="5385816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46520" y="16093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A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446520" y="186537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and confirmation want opposite ends of the same curve, so the operating point is exposed rather than fixed at 0.5.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446520" y="2542032"/>
            <a:ext cx="4937760" cy="274320"/>
          </a:xfrm>
          <a:prstGeom prst="roundRect">
            <a:avLst>
              <a:gd name="adj" fmla="val 50000"/>
            </a:avLst>
          </a:prstGeom>
          <a:solidFill>
            <a:srgbClr val="DFDDEE"/>
          </a:solidFill>
          <a:ln/>
        </p:spPr>
      </p:sp>
      <p:sp>
        <p:nvSpPr>
          <p:cNvPr id="34" name="Shape 31"/>
          <p:cNvSpPr/>
          <p:nvPr/>
        </p:nvSpPr>
        <p:spPr>
          <a:xfrm>
            <a:off x="8732520" y="2450592"/>
            <a:ext cx="457200" cy="457200"/>
          </a:xfrm>
          <a:prstGeom prst="ellipse">
            <a:avLst/>
          </a:prstGeom>
          <a:solidFill>
            <a:srgbClr val="7A4D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46520" y="29626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4465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nobody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9281160" y="29626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928116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false alarms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specificity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446520" y="3712464"/>
            <a:ext cx="4937760" cy="658368"/>
          </a:xfrm>
          <a:prstGeom prst="roundRect">
            <a:avLst>
              <a:gd name="adj" fmla="val 12500"/>
            </a:avLst>
          </a:prstGeom>
          <a:solidFill>
            <a:srgbClr val="EFEDFA"/>
          </a:solidFill>
          <a:ln w="12700">
            <a:solidFill>
              <a:srgbClr val="CFC6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01968" y="3785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CAN DECLINE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6601968" y="4005072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prediction: 90.3% coverage against a 90% target, abstains on 9%, 99.7% accurate when it commits.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66928" y="4681728"/>
            <a:ext cx="2624328" cy="932688"/>
          </a:xfrm>
          <a:prstGeom prst="roundRect">
            <a:avLst>
              <a:gd name="adj" fmla="val 8824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9808" y="4773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22,131</a:t>
            </a:r>
            <a:endParaRPr lang="en-US" sz="2600" dirty="0"/>
          </a:p>
        </p:txBody>
      </p:sp>
      <p:sp>
        <p:nvSpPr>
          <p:cNvPr id="44" name="Text 41"/>
          <p:cNvSpPr txBox="1"/>
          <p:nvPr/>
        </p:nvSpPr>
        <p:spPr>
          <a:xfrm>
            <a:off x="749808" y="5212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across the catalogue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410712" y="4681728"/>
            <a:ext cx="2624328" cy="932688"/>
          </a:xfrm>
          <a:prstGeom prst="roundRect">
            <a:avLst>
              <a:gd name="adj" fmla="val 8824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593592" y="4773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7" name="Text 44"/>
          <p:cNvSpPr txBox="1"/>
          <p:nvPr/>
        </p:nvSpPr>
        <p:spPr>
          <a:xfrm>
            <a:off x="3593592" y="5212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domains, 4 data modalities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254496" y="4681728"/>
            <a:ext cx="2624328" cy="932688"/>
          </a:xfrm>
          <a:prstGeom prst="roundRect">
            <a:avLst>
              <a:gd name="adj" fmla="val 8824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37376" y="4773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15,581</a:t>
            </a:r>
            <a:endParaRPr lang="en-US" sz="2600" dirty="0"/>
          </a:p>
        </p:txBody>
      </p:sp>
      <p:sp>
        <p:nvSpPr>
          <p:cNvPr id="50" name="Text 47"/>
          <p:cNvSpPr txBox="1"/>
          <p:nvPr/>
        </p:nvSpPr>
        <p:spPr>
          <a:xfrm>
            <a:off x="6437376" y="5212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genomic variants scored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9098280" y="4681728"/>
            <a:ext cx="2624328" cy="932688"/>
          </a:xfrm>
          <a:prstGeom prst="roundRect">
            <a:avLst>
              <a:gd name="adj" fmla="val 8824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81160" y="4773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s</a:t>
            </a:r>
            <a:endParaRPr lang="en-US" sz="2600" dirty="0"/>
          </a:p>
        </p:txBody>
      </p:sp>
      <p:sp>
        <p:nvSpPr>
          <p:cNvPr id="53" name="Text 50"/>
          <p:cNvSpPr txBox="1"/>
          <p:nvPr/>
        </p:nvSpPr>
        <p:spPr>
          <a:xfrm>
            <a:off x="9281160" y="5212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the full stack on your CSV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benchmarked, and honest about it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481328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66928" y="455371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ahead on 2 of 5 · classical ahead on 3 · reported either way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784848" y="1481328"/>
          <a:ext cx="4837176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784848" y="4553712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halves with every qubit added — exponential concentration, the kernel tending to the identity.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566928" y="4956048"/>
            <a:ext cx="3566160" cy="1024128"/>
          </a:xfrm>
          <a:prstGeom prst="roundRect">
            <a:avLst>
              <a:gd name="adj" fmla="val 8036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047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 underperforms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532180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Diagnosed, not hidden: the platform measures concentration before training and weights the branch down automatically.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352544" y="4956048"/>
            <a:ext cx="3566160" cy="1024128"/>
          </a:xfrm>
          <a:prstGeom prst="roundRect">
            <a:avLst>
              <a:gd name="adj" fmla="val 8036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17136" y="5047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plateaus in the VQC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17136" y="532180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variational models run on a narrower register than the kernel; SPSA replaces a per-parameter gradient.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8138160" y="4956048"/>
            <a:ext cx="3566160" cy="1024128"/>
          </a:xfrm>
          <a:prstGeom prst="roundRect">
            <a:avLst>
              <a:gd name="adj" fmla="val 8036"/>
            </a:avLst>
          </a:prstGeom>
          <a:solidFill>
            <a:srgbClr val="F5F4FB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302752" y="50474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clinical datasets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532180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coverage is reported with its calibration size, and flagged when too loose to quote.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74320"/>
            <a:ext cx="1243584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 26139  ·  Bugs Janta Party  ·  800C4B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419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says, and what we verified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66751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FDD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A2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RESEARCH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95528" y="2093976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197510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Havlíček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with quantum-enhanced feature spaces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Nature 567 (2019)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5528" y="2514600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23957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Schuld &amp; Killoran.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ML in feature Hilbert spaces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PRL 122 (2019)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5528" y="2935224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28163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Pérez-Salinas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re-uploading for a universal quantum classifier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Quantum 4 (2020)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5528" y="3355848"/>
            <a:ext cx="91440" cy="91440"/>
          </a:xfrm>
          <a:prstGeom prst="ellipse">
            <a:avLst/>
          </a:prstGeom>
          <a:solidFill>
            <a:srgbClr val="7A4D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5840" y="323697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Thanasilp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concentration in quantum kernel methods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Nat. Comms 15 (2024)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5528" y="3776472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05840" y="3657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data in quantum machine learning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Nat. Comms 12 (2021)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5528" y="4197096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05840" y="407822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perturbation stochastic approximation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IEEE TAC 37 (1992)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95528" y="4617720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05840" y="44988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Vovk et al.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Learning in a Random World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Springer (2005)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5528" y="5038344"/>
            <a:ext cx="91440" cy="91440"/>
          </a:xfrm>
          <a:prstGeom prst="ellipse">
            <a:avLst/>
          </a:prstGeom>
          <a:solidFill>
            <a:srgbClr val="DFDDE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05840" y="49194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Lee. </a:t>
            </a:r>
            <a:pPr indent="0" marL="0">
              <a:buNone/>
            </a:pPr>
            <a:r>
              <a:rPr lang="en-US" sz="1000" dirty="0">
                <a:solidFill>
                  <a:srgbClr val="3B3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approach to interpreting model predictions</a:t>
            </a:r>
            <a:pPr indent="0" marL="0">
              <a:buNone/>
            </a:pPr>
            <a:r>
              <a:rPr lang="en-US" sz="1000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NeurIPS (2017)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50468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Thanasilp et al. predicts the failure mode this platform now measures on every dataset.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24928" y="1481328"/>
            <a:ext cx="4197096" cy="3931920"/>
          </a:xfrm>
          <a:prstGeom prst="roundRect">
            <a:avLst>
              <a:gd name="adj" fmla="val 2093"/>
            </a:avLst>
          </a:prstGeom>
          <a:solidFill>
            <a:srgbClr val="211E4A"/>
          </a:solidFill>
          <a:ln w="12700">
            <a:solidFill>
              <a:srgbClr val="211E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35240" y="1645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A7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ASSERTED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2011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× 10⁻¹⁵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635240" y="23225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agreement with Qiskit’s own simulator, re-checked on every training run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635240" y="27889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7635240" y="3099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gate-level agreement for the QNN circuit path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7635240" y="3566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+1.03 pts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635240" y="3877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removed by fixing ClinVar’s duplicate-assembly leak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635240" y="43434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 vs 0.96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7635240" y="46542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is the weaker error signal, reported as measured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635240" y="51755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NCBI ClinVar · UCI · Wisconsin WDBC · NIDDK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59070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9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prototype on public benchmark datasets. Not clinically validated; no output should inform a medical decision.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Aarogyam — Hybrid Quantum ML Platform for Early Disease Detection</dc:title>
  <dc:subject>PptxGenJS Presentation</dc:subject>
  <dc:creator>Bugs Janta Party</dc:creator>
  <cp:lastModifiedBy>Bugs Janta Party</cp:lastModifiedBy>
  <cp:revision>1</cp:revision>
  <dcterms:created xsi:type="dcterms:W3CDTF">2026-09-03T17:08:18Z</dcterms:created>
  <dcterms:modified xsi:type="dcterms:W3CDTF">2026-09-03T17:08:18Z</dcterms:modified>
</cp:coreProperties>
</file>