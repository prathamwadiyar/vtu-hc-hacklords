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56" r:id="rId2"/>
    <p:sldId id="257" r:id="rId3"/>
    <p:sldId id="258" r:id="rId4"/>
    <p:sldId id="259" r:id="rId5"/>
    <p:sldId id="266" r:id="rId6"/>
    <p:sldId id="260" r:id="rId7"/>
    <p:sldId id="261" r:id="rId8"/>
    <p:sldId id="262" r:id="rId9"/>
    <p:sldId id="267" r:id="rId10"/>
    <p:sldId id="268" r:id="rId11"/>
    <p:sldId id="263" r:id="rId12"/>
    <p:sldId id="264" r:id="rId13"/>
    <p:sldId id="265" r:id="rId14"/>
  </p:sldIdLst>
  <p:sldSz cx="9144000" cy="5143500" type="screen16x9"/>
  <p:notesSz cx="5143500" cy="9144000"/>
  <p:defaultTextStyle>
    <a:defPPr lvl="0"/>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Heart (n = 61)</c:v>
                </c:pt>
              </c:strCache>
            </c:strRef>
          </c:tx>
          <c:spPr>
            <a:solidFill>
              <a:srgbClr val="5B3BA8"/>
            </a:solidFill>
          </c:spPr>
          <c:invertIfNegative val="1"/>
          <c:dLbls>
            <c:numFmt formatCode="0&quot;%&quot;" sourceLinked="0"/>
            <c:spPr>
              <a:noFill/>
              <a:ln>
                <a:noFill/>
              </a:ln>
              <a:effectLst/>
            </c:spPr>
            <c:txPr>
              <a:bodyPr/>
              <a:lstStyle/>
              <a:p>
                <a:pPr>
                  <a:defRPr sz="850">
                    <a:solidFill>
                      <a:srgbClr val="2E1B5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Very low</c:v>
                </c:pt>
                <c:pt idx="1">
                  <c:v>Low</c:v>
                </c:pt>
                <c:pt idx="2">
                  <c:v>Moderate</c:v>
                </c:pt>
                <c:pt idx="3">
                  <c:v>High</c:v>
                </c:pt>
                <c:pt idx="4">
                  <c:v>Very high</c:v>
                </c:pt>
              </c:strCache>
            </c:strRef>
          </c:cat>
          <c:val>
            <c:numRef>
              <c:f>Sheet1!$B$2:$B$6</c:f>
              <c:numCache>
                <c:formatCode>General</c:formatCode>
                <c:ptCount val="5"/>
                <c:pt idx="0">
                  <c:v>0</c:v>
                </c:pt>
                <c:pt idx="1">
                  <c:v>13</c:v>
                </c:pt>
                <c:pt idx="2">
                  <c:v>40</c:v>
                </c:pt>
                <c:pt idx="3">
                  <c:v>100</c:v>
                </c:pt>
                <c:pt idx="4">
                  <c:v>90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A91-4385-852E-FC615B9FE1C5}"/>
            </c:ext>
          </c:extLst>
        </c:ser>
        <c:ser>
          <c:idx val="1"/>
          <c:order val="1"/>
          <c:tx>
            <c:strRef>
              <c:f>Sheet1!$C$1</c:f>
              <c:strCache>
                <c:ptCount val="1"/>
                <c:pt idx="0">
                  <c:v>Diabetes (n = 154)</c:v>
                </c:pt>
              </c:strCache>
            </c:strRef>
          </c:tx>
          <c:spPr>
            <a:solidFill>
              <a:srgbClr val="E8639F"/>
            </a:solidFill>
          </c:spPr>
          <c:invertIfNegative val="1"/>
          <c:dLbls>
            <c:numFmt formatCode="0&quot;%&quot;" sourceLinked="0"/>
            <c:spPr>
              <a:noFill/>
              <a:ln>
                <a:noFill/>
              </a:ln>
              <a:effectLst/>
            </c:spPr>
            <c:txPr>
              <a:bodyPr/>
              <a:lstStyle/>
              <a:p>
                <a:pPr>
                  <a:defRPr sz="850">
                    <a:solidFill>
                      <a:srgbClr val="2E1B5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Very low</c:v>
                </c:pt>
                <c:pt idx="1">
                  <c:v>Low</c:v>
                </c:pt>
                <c:pt idx="2">
                  <c:v>Moderate</c:v>
                </c:pt>
                <c:pt idx="3">
                  <c:v>High</c:v>
                </c:pt>
                <c:pt idx="4">
                  <c:v>Very high</c:v>
                </c:pt>
              </c:strCache>
            </c:strRef>
          </c:cat>
          <c:val>
            <c:numRef>
              <c:f>Sheet1!$C$2:$C$6</c:f>
              <c:numCache>
                <c:formatCode>General</c:formatCode>
                <c:ptCount val="5"/>
                <c:pt idx="0">
                  <c:v>5</c:v>
                </c:pt>
                <c:pt idx="1">
                  <c:v>10</c:v>
                </c:pt>
                <c:pt idx="2">
                  <c:v>42</c:v>
                </c:pt>
                <c:pt idx="3">
                  <c:v>63</c:v>
                </c:pt>
                <c:pt idx="4">
                  <c:v>75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AA91-4385-852E-FC615B9FE1C5}"/>
            </c:ext>
          </c:extLst>
        </c:ser>
        <c:dLbls>
          <c:dLblPos val="outEnd"/>
          <c:showLegendKey val="0"/>
          <c:showVal val="1"/>
          <c:showCatName val="0"/>
          <c:showSerName val="0"/>
          <c:showPercent val="0"/>
          <c:showBubbleSize val="0"/>
        </c:dLbls>
        <c:gapWidth val="60"/>
        <c:overlap val="-8"/>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8BDEB"/>
            </a:solidFill>
          </a:ln>
        </c:spPr>
        <c:txPr>
          <a:bodyPr/>
          <a:lstStyle/>
          <a:p>
            <a:pPr>
              <a:defRPr sz="900">
                <a:solidFill>
                  <a:srgbClr val="2E1B5B"/>
                </a:solidFill>
              </a:defRPr>
            </a:pPr>
            <a:endParaRPr lang="en-US"/>
          </a:p>
        </c:txPr>
        <c:crossAx val="-2113994440"/>
        <c:crosses val="autoZero"/>
        <c:auto val="1"/>
        <c:lblAlgn val="ctr"/>
        <c:lblOffset val="100"/>
        <c:noMultiLvlLbl val="0"/>
      </c:catAx>
      <c:valAx>
        <c:axId val="-2113994440"/>
        <c:scaling>
          <c:orientation val="minMax"/>
          <c:max val="110"/>
          <c:min val="0"/>
        </c:scaling>
        <c:delete val="0"/>
        <c:axPos val="l"/>
        <c:majorGridlines>
          <c:spPr>
            <a:ln w="6350">
              <a:solidFill>
                <a:srgbClr val="CBD1F5"/>
              </a:solidFill>
            </a:ln>
          </c:spPr>
        </c:majorGridlines>
        <c:numFmt formatCode="0&quot;%&quot;" sourceLinked="0"/>
        <c:majorTickMark val="out"/>
        <c:minorTickMark val="none"/>
        <c:tickLblPos val="nextTo"/>
        <c:spPr>
          <a:ln>
            <a:noFill/>
          </a:ln>
        </c:spPr>
        <c:txPr>
          <a:bodyPr/>
          <a:lstStyle/>
          <a:p>
            <a:pPr>
              <a:defRPr sz="900">
                <a:solidFill>
                  <a:srgbClr val="6F7399"/>
                </a:solidFill>
              </a:defRPr>
            </a:pPr>
            <a:endParaRPr lang="en-US"/>
          </a:p>
        </c:txPr>
        <c:crossAx val="-2068027336"/>
        <c:crosses val="autoZero"/>
        <c:crossBetween val="between"/>
        <c:majorUnit val="25"/>
      </c:valAx>
    </c:plotArea>
    <c:legend>
      <c:legendPos val="t"/>
      <c:overlay val="0"/>
      <c:txPr>
        <a:bodyPr/>
        <a:lstStyle/>
        <a:p>
          <a:pPr>
            <a:defRPr sz="950"/>
          </a:pPr>
          <a:endParaRPr lang="en-US"/>
        </a:p>
      </c:txPr>
    </c:legend>
    <c:plotVisOnly val="1"/>
    <c:dispBlanksAs val="gap"/>
    <c:showDLblsOverMax val="1"/>
  </c:chart>
  <c:txPr>
    <a:bodyPr/>
    <a:lstStyle/>
    <a:p>
      <a:pPr>
        <a:defRPr sz="900">
          <a:solidFill>
            <a:srgbClr val="2E1B5B"/>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Heart</c:v>
                </c:pt>
              </c:strCache>
            </c:strRef>
          </c:tx>
          <c:dPt>
            <c:idx val="0"/>
            <c:bubble3D val="0"/>
            <c:spPr>
              <a:solidFill>
                <a:srgbClr val="E8639F"/>
              </a:solidFill>
              <a:ln>
                <a:solidFill>
                  <a:srgbClr val="FFFFFF"/>
                </a:solidFill>
              </a:ln>
            </c:spPr>
            <c:extLst>
              <c:ext xmlns:c16="http://schemas.microsoft.com/office/drawing/2014/chart" uri="{C3380CC4-5D6E-409C-BE32-E72D297353CC}">
                <c16:uniqueId val="{00000001-E117-468E-817C-187381EE4C46}"/>
              </c:ext>
            </c:extLst>
          </c:dPt>
          <c:dPt>
            <c:idx val="1"/>
            <c:bubble3D val="0"/>
            <c:spPr>
              <a:solidFill>
                <a:srgbClr val="5B3BA8"/>
              </a:solidFill>
              <a:ln>
                <a:solidFill>
                  <a:srgbClr val="FFFFFF"/>
                </a:solidFill>
              </a:ln>
            </c:spPr>
            <c:extLst>
              <c:ext xmlns:c16="http://schemas.microsoft.com/office/drawing/2014/chart" uri="{C3380CC4-5D6E-409C-BE32-E72D297353CC}">
                <c16:uniqueId val="{00000003-E117-468E-817C-187381EE4C46}"/>
              </c:ext>
            </c:extLst>
          </c:dPt>
          <c:cat>
            <c:strRef>
              <c:f>Sheet1!$A$2:$A$3</c:f>
              <c:strCache>
                <c:ptCount val="2"/>
                <c:pt idx="0">
                  <c:v>Abstain</c:v>
                </c:pt>
                <c:pt idx="1">
                  <c:v>Commit</c:v>
                </c:pt>
              </c:strCache>
            </c:strRef>
          </c:cat>
          <c:val>
            <c:numRef>
              <c:f>Sheet1!$B$2:$B$3</c:f>
              <c:numCache>
                <c:formatCode>General</c:formatCode>
                <c:ptCount val="2"/>
                <c:pt idx="0">
                  <c:v>42.62</c:v>
                </c:pt>
                <c:pt idx="1">
                  <c:v>57.38</c:v>
                </c:pt>
              </c:numCache>
            </c:numRef>
          </c:val>
          <c:extLst>
            <c:ext xmlns:c16="http://schemas.microsoft.com/office/drawing/2014/chart" uri="{C3380CC4-5D6E-409C-BE32-E72D297353CC}">
              <c16:uniqueId val="{00000004-E117-468E-817C-187381EE4C46}"/>
            </c:ext>
          </c:extLst>
        </c:ser>
        <c:dLbls>
          <c:showLegendKey val="0"/>
          <c:showVal val="0"/>
          <c:showCatName val="0"/>
          <c:showSerName val="0"/>
          <c:showPercent val="0"/>
          <c:showBubbleSize val="0"/>
          <c:showLeaderLines val="1"/>
        </c:dLbls>
        <c:firstSliceAng val="0"/>
        <c:holeSize val="62"/>
      </c:doughnutChart>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Diabetes</c:v>
                </c:pt>
              </c:strCache>
            </c:strRef>
          </c:tx>
          <c:dPt>
            <c:idx val="0"/>
            <c:bubble3D val="0"/>
            <c:spPr>
              <a:solidFill>
                <a:srgbClr val="E8639F"/>
              </a:solidFill>
              <a:ln>
                <a:solidFill>
                  <a:srgbClr val="FFFFFF"/>
                </a:solidFill>
              </a:ln>
            </c:spPr>
            <c:extLst>
              <c:ext xmlns:c16="http://schemas.microsoft.com/office/drawing/2014/chart" uri="{C3380CC4-5D6E-409C-BE32-E72D297353CC}">
                <c16:uniqueId val="{00000001-E859-472E-A383-B0BFEF34D237}"/>
              </c:ext>
            </c:extLst>
          </c:dPt>
          <c:dPt>
            <c:idx val="1"/>
            <c:bubble3D val="0"/>
            <c:spPr>
              <a:solidFill>
                <a:srgbClr val="5B3BA8"/>
              </a:solidFill>
              <a:ln>
                <a:solidFill>
                  <a:srgbClr val="FFFFFF"/>
                </a:solidFill>
              </a:ln>
            </c:spPr>
            <c:extLst>
              <c:ext xmlns:c16="http://schemas.microsoft.com/office/drawing/2014/chart" uri="{C3380CC4-5D6E-409C-BE32-E72D297353CC}">
                <c16:uniqueId val="{00000003-E859-472E-A383-B0BFEF34D237}"/>
              </c:ext>
            </c:extLst>
          </c:dPt>
          <c:cat>
            <c:strRef>
              <c:f>Sheet1!$A$2:$A$3</c:f>
              <c:strCache>
                <c:ptCount val="2"/>
                <c:pt idx="0">
                  <c:v>Abstain</c:v>
                </c:pt>
                <c:pt idx="1">
                  <c:v>Commit</c:v>
                </c:pt>
              </c:strCache>
            </c:strRef>
          </c:cat>
          <c:val>
            <c:numRef>
              <c:f>Sheet1!$B$2:$B$3</c:f>
              <c:numCache>
                <c:formatCode>General</c:formatCode>
                <c:ptCount val="2"/>
                <c:pt idx="0">
                  <c:v>38.96</c:v>
                </c:pt>
                <c:pt idx="1">
                  <c:v>61.04</c:v>
                </c:pt>
              </c:numCache>
            </c:numRef>
          </c:val>
          <c:extLst>
            <c:ext xmlns:c16="http://schemas.microsoft.com/office/drawing/2014/chart" uri="{C3380CC4-5D6E-409C-BE32-E72D297353CC}">
              <c16:uniqueId val="{00000004-E859-472E-A383-B0BFEF34D237}"/>
            </c:ext>
          </c:extLst>
        </c:ser>
        <c:dLbls>
          <c:showLegendKey val="0"/>
          <c:showVal val="0"/>
          <c:showCatName val="0"/>
          <c:showSerName val="0"/>
          <c:showPercent val="0"/>
          <c:showBubbleSize val="0"/>
          <c:showLeaderLines val="1"/>
        </c:dLbls>
        <c:firstSliceAng val="0"/>
        <c:holeSize val="62"/>
      </c:doughnutChart>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2EFA1F8C-B10B-C84D-94FC-B3DA01C1C208}" type="datetimeFigureOut">
              <a:rPr lang="en-US" smtClean="0"/>
              <a:t>10/23/2026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20902761-92A6-8544-9B98-D45CEE3CC886}" type="slidenum">
              <a:rPr lang="en-US" smtClean="0"/>
              <a:t>‹#›</a:t>
            </a:fld>
            <a:endParaRPr lang="en-US"/>
          </a:p>
        </p:txBody>
      </p:sp>
    </p:spTree>
    <p:extLst>
      <p:ext uri="{BB962C8B-B14F-4D97-AF65-F5344CB8AC3E}">
        <p14:creationId xmlns:p14="http://schemas.microsoft.com/office/powerpoint/2010/main" val="3504636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one-line pitch: AAROGYAM turns small public health datasets into an understandable risk-screening prototype AND an honest, reproducible test of whether quantum ML helps. Fill in the bracketed team fields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real pain points: people struggle with risk numbers, clinicians need organised summaries, and many quantum-ML projects use a quantum logo without a real, fair experiment. AAROGYAM closes that gap with a labelled, measurable prototype.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Mind map of what we set out to do (left) and what is new (right). The novelty comes from fusing our product layer (portals, QR, dialer) with the QGene hybrid engine: it checks whether quantum kernels can help BEFORE training, computes the kernel in closed form, offers three different quantum models, and abstains when unsure.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End-to-end flow: inputs are validated, pre-processed identically for every dataset, scored by three classical and three quantum models, merged by an ensemble that learns how much to trust each branch, then turned into a risk band with a conformal "abstain" option. The banner is our honesty principle: we report where quantum helps and where it does not.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lanes. The patient picks a task, reviews inputs, sees a labelled estimate and general wellness education, and can share a record by QR. The QR carries only an opaque token, never health data. The clinician reviews synthetic or consented records, sees metrics and limitations, and uses it as a discussion aid only. The emergency button just opens the phone dialer; the user confirms the call. Number must be verified for the demo locale.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Schematic of the ZZFeatureMap: Hadamards, data-dependent phase rotations, and ZZ entangling between all qubit pairs, repeated. Eight PCA features map onto eight qubits. Instead of running one circuit per pair of samples (O(n squared)), the statevector simulator prepares each state once and the kernel is K = |Psi Psi-dagger| squared. The closed form is verified against Qiskit on every run.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layers. The frontend and API follow the PRD (React + Vite, Python API with validated schemas). The ML engine is the QGene pipeline: scikit-learn baselines plus Qiskit-based quantum models with the closed-form kernel. Data are public benchmark datasets and synthetic demo records only. It ships as a Docker image and runs on a 512 MB instance.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numbers are measured on held-out test sets from the QGene benchmark. Quantum wins on breast-imaging features and on coronary artery disease (QNN, AUC 94.9 vs 92.8) and loses on the other three, including diabetes. Axis starts at 50 because that is chance level. We report both the wins and the losses.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scientific core. As qubits are added the kernel off-diagonal spread roughly halves (exponential concentration), so the kernel matrix tends toward the identity and a quantum-kernel SVM has nothing to separate: its sensitivity collapses to 7% on heart and under 4% on diabetes. The data re-uploading QNN avoids this and recovers 93% heart sensitivity. The platform measures this before training, and the ensemble gives quantum a share of 6% on heart and 0% on diabetes.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Decision support rather than a bare score. Probabilities are mapped to five risk bands and we check each band against the observed outcome rate on held-out data. Conformal prediction lets the system abstain instead of guessing: on heart it abstains on 43% of cases but is 97% accurate when it commits. Calibration sets here are tiny (61 and 154 rows), so we say plainly that the coverage guarantees are loose.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Who benefits: patients get understandable context, clinicians get organised summaries for conversations, researchers get a reproducible benchmark, and students get an honest introduction to quantum ML. The same pipeline already runs on five public datasets and accepts an uploaded CSV, so adding new disease tasks does not need new model code. No claims of clinical outcomes are made.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the four real challenges and how each is handled. Right: roadmap. After the MVP, the priorities are real authentication and consent with an audit trail, clinician review of all health-facing language, and finally runs on real quantum hardware with error mitigation.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on the honesty message: a stable demo, real measured results, and clear limits. Add the demo video link before submitting. Disclaimer: educational prototype only, not for diagnosis, treatment or emergency decisions.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sp>
      <p:sp>
        <p:nvSpPr>
          <p:cNvPr id="3" name="Shape 1"/>
          <p:cNvSpPr/>
          <p:nvPr/>
        </p:nvSpPr>
        <p:spPr>
          <a:xfrm>
            <a:off x="0" y="658368"/>
            <a:ext cx="3054096" cy="45720"/>
          </a:xfrm>
          <a:prstGeom prst="rect">
            <a:avLst/>
          </a:prstGeom>
          <a:solidFill>
            <a:srgbClr val="7C93F0"/>
          </a:solidFill>
          <a:ln w="12700">
            <a:solidFill>
              <a:srgbClr val="7C93F0"/>
            </a:solidFill>
            <a:prstDash val="solid"/>
          </a:ln>
        </p:spPr>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sp>
      <p:sp>
        <p:nvSpPr>
          <p:cNvPr id="3" name="Shape 1"/>
          <p:cNvSpPr/>
          <p:nvPr/>
        </p:nvSpPr>
        <p:spPr>
          <a:xfrm>
            <a:off x="0" y="658368"/>
            <a:ext cx="3054096" cy="45720"/>
          </a:xfrm>
          <a:prstGeom prst="rect">
            <a:avLst/>
          </a:prstGeom>
          <a:solidFill>
            <a:srgbClr val="7C93F0"/>
          </a:solidFill>
          <a:ln w="12700">
            <a:solidFill>
              <a:srgbClr val="7C93F0"/>
            </a:solidFill>
            <a:prstDash val="solid"/>
          </a:ln>
        </p:spPr>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pic>
        <p:nvPicPr>
          <p:cNvPr id="19" name="Image 3" descr="sphere.png"/>
          <p:cNvPicPr>
            <a:picLocks noChangeAspect="1"/>
          </p:cNvPicPr>
          <p:nvPr/>
        </p:nvPicPr>
        <p:blipFill>
          <a:blip r:embed="rId5"/>
          <a:stretch>
            <a:fillRect/>
          </a:stretch>
        </p:blipFill>
        <p:spPr>
          <a:xfrm>
            <a:off x="7909560" y="822960"/>
            <a:ext cx="777240" cy="777240"/>
          </a:xfrm>
          <a:prstGeom prst="rect">
            <a:avLst/>
          </a:prstGeom>
        </p:spPr>
      </p:pic>
      <p:pic>
        <p:nvPicPr>
          <p:cNvPr id="20" name="Image 4" descr="bird1.png"/>
          <p:cNvPicPr>
            <a:picLocks noChangeAspect="1"/>
          </p:cNvPicPr>
          <p:nvPr/>
        </p:nvPicPr>
        <p:blipFill>
          <a:blip r:embed="rId6"/>
          <a:stretch>
            <a:fillRect/>
          </a:stretch>
        </p:blipFill>
        <p:spPr>
          <a:xfrm>
            <a:off x="7086600" y="868680"/>
            <a:ext cx="548640" cy="329184"/>
          </a:xfrm>
          <a:prstGeom prst="rect">
            <a:avLst/>
          </a:prstGeom>
        </p:spPr>
      </p:pic>
      <p:pic>
        <p:nvPicPr>
          <p:cNvPr id="21" name="Image 5" descr="bird2.png"/>
          <p:cNvPicPr>
            <a:picLocks noChangeAspect="1"/>
          </p:cNvPicPr>
          <p:nvPr/>
        </p:nvPicPr>
        <p:blipFill>
          <a:blip r:embed="rId7"/>
          <a:stretch>
            <a:fillRect/>
          </a:stretch>
        </p:blipFill>
        <p:spPr>
          <a:xfrm>
            <a:off x="6903720" y="1261872"/>
            <a:ext cx="384048" cy="228600"/>
          </a:xfrm>
          <a:prstGeom prst="rect">
            <a:avLst/>
          </a:prstGeom>
        </p:spPr>
      </p:pic>
      <p:sp>
        <p:nvSpPr>
          <p:cNvPr id="22" name="Text 14"/>
          <p:cNvSpPr>
            <a:spLocks noGrp="1"/>
          </p:cNvSpPr>
          <p:nvPr>
            <p:ph type="title" idx="120" hasCustomPrompt="1"/>
          </p:nvPr>
        </p:nvSpPr>
        <p:spPr>
          <a:xfrm>
            <a:off x="457200" y="841248"/>
            <a:ext cx="6309360" cy="594360"/>
          </a:xfrm>
          <a:prstGeom prst="rect">
            <a:avLst/>
          </a:prstGeom>
          <a:noFill/>
          <a:ln/>
        </p:spPr>
        <p:txBody>
          <a:bodyPr wrap="square" rtlCol="0"/>
          <a:lstStyle>
            <a:lvl1pPr marL="0" indent="0" algn="l">
              <a:buNone/>
              <a:defRPr lang="en-US" sz="2600" b="1" dirty="0">
                <a:solidFill>
                  <a:srgbClr val="2E1B5B"/>
                </a:solidFill>
                <a:latin typeface="Georgia" pitchFamily="34" charset="0"/>
                <a:ea typeface="Georgia" pitchFamily="34" charset="-122"/>
                <a:cs typeface="Georgia" pitchFamily="34" charset="-120"/>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mailto:pranalib2026@gmail.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2.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0.png"/><Relationship Id="rId3" Type="http://schemas.openxmlformats.org/officeDocument/2006/relationships/image" Target="../media/image19.png"/><Relationship Id="rId7" Type="http://schemas.openxmlformats.org/officeDocument/2006/relationships/image" Target="../media/image26.png"/><Relationship Id="rId12"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image" Target="../media/image24.png"/><Relationship Id="rId15" Type="http://schemas.openxmlformats.org/officeDocument/2006/relationships/image" Target="../media/image32.png"/><Relationship Id="rId10" Type="http://schemas.openxmlformats.org/officeDocument/2006/relationships/image" Target="../media/image28.png"/><Relationship Id="rId4" Type="http://schemas.openxmlformats.org/officeDocument/2006/relationships/image" Target="../media/image23.png"/><Relationship Id="rId9" Type="http://schemas.openxmlformats.org/officeDocument/2006/relationships/image" Target="../media/image9.png"/><Relationship Id="rId14" Type="http://schemas.openxmlformats.org/officeDocument/2006/relationships/image" Target="../media/image31.png"/></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10.png"/><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chart" Target="../charts/chart3.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github.com/vtu-qiskit-fall-fest-2026/vtu-hc-hacklords.git" TargetMode="External"/><Relationship Id="rId7"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youtu.be/F4ThW7V9Y0U"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329184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PARTICIPANT PRESENTATION</a:t>
            </a:r>
            <a:endParaRPr lang="en-US" sz="1000" dirty="0"/>
          </a:p>
        </p:txBody>
      </p:sp>
      <p:sp>
        <p:nvSpPr>
          <p:cNvPr id="3" name="Text 1"/>
          <p:cNvSpPr txBox="1"/>
          <p:nvPr/>
        </p:nvSpPr>
        <p:spPr>
          <a:xfrm>
            <a:off x="457200" y="1234440"/>
            <a:ext cx="3383280" cy="1645920"/>
          </a:xfrm>
          <a:prstGeom prst="rect">
            <a:avLst/>
          </a:prstGeom>
          <a:noFill/>
          <a:ln/>
        </p:spPr>
        <p:txBody>
          <a:bodyPr wrap="square" lIns="0" tIns="0" rIns="0" bIns="0" rtlCol="0" anchor="t"/>
          <a:lstStyle/>
          <a:p>
            <a:pPr marL="0" indent="0">
              <a:buNone/>
            </a:pPr>
            <a:r>
              <a:rPr lang="en-US" sz="3800" b="1" dirty="0">
                <a:solidFill>
                  <a:srgbClr val="2E1B5B"/>
                </a:solidFill>
                <a:latin typeface="Georgia" pitchFamily="34" charset="0"/>
                <a:ea typeface="Georgia" pitchFamily="34" charset="-122"/>
                <a:cs typeface="Georgia" pitchFamily="34" charset="-120"/>
              </a:rPr>
              <a:t>Qiskit</a:t>
            </a:r>
            <a:endParaRPr lang="en-US" sz="3800" dirty="0"/>
          </a:p>
          <a:p>
            <a:pPr marL="0" indent="0">
              <a:buNone/>
            </a:pPr>
            <a:r>
              <a:rPr lang="en-US" sz="3800" b="1" dirty="0">
                <a:solidFill>
                  <a:srgbClr val="E8639F"/>
                </a:solidFill>
                <a:latin typeface="Georgia" pitchFamily="34" charset="0"/>
                <a:ea typeface="Georgia" pitchFamily="34" charset="-122"/>
                <a:cs typeface="Georgia" pitchFamily="34" charset="-120"/>
              </a:rPr>
              <a:t>Fall Fest</a:t>
            </a:r>
            <a:endParaRPr lang="en-US" sz="3800" dirty="0"/>
          </a:p>
          <a:p>
            <a:pPr marL="0" indent="0">
              <a:buNone/>
            </a:pPr>
            <a:r>
              <a:rPr lang="en-US" sz="3800" b="1" dirty="0">
                <a:solidFill>
                  <a:srgbClr val="2E1B5B"/>
                </a:solidFill>
                <a:latin typeface="Georgia" pitchFamily="34" charset="0"/>
                <a:ea typeface="Georgia" pitchFamily="34" charset="-122"/>
                <a:cs typeface="Georgia" pitchFamily="34" charset="-120"/>
              </a:rPr>
              <a:t>2026</a:t>
            </a:r>
            <a:endParaRPr lang="en-US" sz="3800" dirty="0"/>
          </a:p>
        </p:txBody>
      </p:sp>
      <p:sp>
        <p:nvSpPr>
          <p:cNvPr id="4" name="Text 2"/>
          <p:cNvSpPr txBox="1"/>
          <p:nvPr/>
        </p:nvSpPr>
        <p:spPr>
          <a:xfrm>
            <a:off x="457200" y="3017520"/>
            <a:ext cx="3291840" cy="274320"/>
          </a:xfrm>
          <a:prstGeom prst="rect">
            <a:avLst/>
          </a:prstGeom>
          <a:noFill/>
          <a:ln/>
        </p:spPr>
        <p:txBody>
          <a:bodyPr wrap="square" lIns="0" tIns="0" rIns="0" bIns="0" rtlCol="0" anchor="t"/>
          <a:lstStyle/>
          <a:p>
            <a:pPr marL="0" indent="0">
              <a:buNone/>
            </a:pPr>
            <a:r>
              <a:rPr lang="en-US" sz="1300" dirty="0">
                <a:solidFill>
                  <a:srgbClr val="4A4380"/>
                </a:solidFill>
                <a:latin typeface="Calibri" pitchFamily="34" charset="0"/>
                <a:ea typeface="Calibri" pitchFamily="34" charset="-122"/>
                <a:cs typeface="Calibri" pitchFamily="34" charset="-120"/>
              </a:rPr>
              <a:t>Hackathon · Team Details</a:t>
            </a:r>
            <a:endParaRPr lang="en-US" sz="1300" dirty="0"/>
          </a:p>
        </p:txBody>
      </p:sp>
      <p:pic>
        <p:nvPicPr>
          <p:cNvPr id="5" name="Bloch sphere ring" descr="sphere.png"/>
          <p:cNvPicPr>
            <a:picLocks noChangeAspect="1"/>
          </p:cNvPicPr>
          <p:nvPr/>
        </p:nvPicPr>
        <p:blipFill>
          <a:blip r:embed="rId3"/>
          <a:stretch>
            <a:fillRect/>
          </a:stretch>
        </p:blipFill>
        <p:spPr>
          <a:xfrm>
            <a:off x="457200" y="3291840"/>
            <a:ext cx="1371600" cy="1371600"/>
          </a:xfrm>
          <a:prstGeom prst="rect">
            <a:avLst/>
          </a:prstGeom>
        </p:spPr>
      </p:pic>
      <p:pic>
        <p:nvPicPr>
          <p:cNvPr id="6" name="Image 1" descr="bird1.png"/>
          <p:cNvPicPr>
            <a:picLocks noChangeAspect="1"/>
          </p:cNvPicPr>
          <p:nvPr/>
        </p:nvPicPr>
        <p:blipFill>
          <a:blip r:embed="rId4"/>
          <a:stretch>
            <a:fillRect/>
          </a:stretch>
        </p:blipFill>
        <p:spPr>
          <a:xfrm>
            <a:off x="2148840" y="3429000"/>
            <a:ext cx="731520" cy="438912"/>
          </a:xfrm>
          <a:prstGeom prst="rect">
            <a:avLst/>
          </a:prstGeom>
        </p:spPr>
      </p:pic>
      <p:pic>
        <p:nvPicPr>
          <p:cNvPr id="7" name="Image 2" descr="bird2.png"/>
          <p:cNvPicPr>
            <a:picLocks noChangeAspect="1"/>
          </p:cNvPicPr>
          <p:nvPr/>
        </p:nvPicPr>
        <p:blipFill>
          <a:blip r:embed="rId5"/>
          <a:stretch>
            <a:fillRect/>
          </a:stretch>
        </p:blipFill>
        <p:spPr>
          <a:xfrm>
            <a:off x="2880360" y="3977640"/>
            <a:ext cx="502920" cy="301752"/>
          </a:xfrm>
          <a:prstGeom prst="rect">
            <a:avLst/>
          </a:prstGeom>
        </p:spPr>
      </p:pic>
      <p:pic>
        <p:nvPicPr>
          <p:cNvPr id="8" name="Image 3" descr="bird3.png"/>
          <p:cNvPicPr>
            <a:picLocks noChangeAspect="1"/>
          </p:cNvPicPr>
          <p:nvPr/>
        </p:nvPicPr>
        <p:blipFill>
          <a:blip r:embed="rId6"/>
          <a:stretch>
            <a:fillRect/>
          </a:stretch>
        </p:blipFill>
        <p:spPr>
          <a:xfrm>
            <a:off x="2331720" y="4297680"/>
            <a:ext cx="384048" cy="228600"/>
          </a:xfrm>
          <a:prstGeom prst="rect">
            <a:avLst/>
          </a:prstGeom>
        </p:spPr>
      </p:pic>
      <p:sp>
        <p:nvSpPr>
          <p:cNvPr id="9" name="Text 3"/>
          <p:cNvSpPr txBox="1"/>
          <p:nvPr/>
        </p:nvSpPr>
        <p:spPr>
          <a:xfrm>
            <a:off x="4023360" y="841248"/>
            <a:ext cx="4663440" cy="320040"/>
          </a:xfrm>
          <a:prstGeom prst="rect">
            <a:avLst/>
          </a:prstGeom>
          <a:noFill/>
          <a:ln/>
        </p:spPr>
        <p:txBody>
          <a:bodyPr wrap="square" lIns="0" tIns="0" rIns="0" bIns="0" rtlCol="0" anchor="t"/>
          <a:lstStyle/>
          <a:p>
            <a:pPr marL="0" indent="0">
              <a:buNone/>
            </a:pPr>
            <a:r>
              <a:rPr lang="en-US" sz="1600" b="1" dirty="0">
                <a:solidFill>
                  <a:srgbClr val="2E1B5B"/>
                </a:solidFill>
                <a:latin typeface="Georgia" pitchFamily="34" charset="0"/>
                <a:ea typeface="Georgia" pitchFamily="34" charset="-122"/>
                <a:cs typeface="Georgia" pitchFamily="34" charset="-120"/>
              </a:rPr>
              <a:t>Participant Details</a:t>
            </a:r>
            <a:endParaRPr lang="en-US" sz="1600" dirty="0"/>
          </a:p>
        </p:txBody>
      </p:sp>
      <p:sp>
        <p:nvSpPr>
          <p:cNvPr id="10" name="Field: PROJECT TITLE"/>
          <p:cNvSpPr/>
          <p:nvPr/>
        </p:nvSpPr>
        <p:spPr>
          <a:xfrm>
            <a:off x="4023360" y="1261872"/>
            <a:ext cx="466344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PROJECT TITLE</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AAROGYAM: Quantum Assisted Early Health Risk Intelligence</a:t>
            </a:r>
            <a:endParaRPr lang="en-US" sz="900" dirty="0"/>
          </a:p>
        </p:txBody>
      </p:sp>
      <p:sp>
        <p:nvSpPr>
          <p:cNvPr id="11" name="Field: TRACK"/>
          <p:cNvSpPr/>
          <p:nvPr/>
        </p:nvSpPr>
        <p:spPr>
          <a:xfrm>
            <a:off x="3208021" y="1842516"/>
            <a:ext cx="3212852" cy="57607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TRACK – 7th</a:t>
            </a:r>
            <a:endParaRPr lang="en-US" sz="900" dirty="0"/>
          </a:p>
          <a:p>
            <a:pPr marL="0" indent="0" algn="l">
              <a:buNone/>
            </a:pPr>
            <a:r>
              <a:rPr lang="en-US" sz="1000" i="1" dirty="0">
                <a:solidFill>
                  <a:srgbClr val="6F7399"/>
                </a:solidFill>
                <a:latin typeface="Calibri" pitchFamily="34" charset="0"/>
                <a:ea typeface="Calibri" pitchFamily="34" charset="-122"/>
                <a:cs typeface="Calibri" pitchFamily="34" charset="-120"/>
              </a:rPr>
              <a:t>Quantum technology for medical application and sensing </a:t>
            </a:r>
            <a:endParaRPr lang="en-US" sz="1000" dirty="0"/>
          </a:p>
        </p:txBody>
      </p:sp>
      <p:sp>
        <p:nvSpPr>
          <p:cNvPr id="12" name="Field: TEAM NAME"/>
          <p:cNvSpPr/>
          <p:nvPr/>
        </p:nvSpPr>
        <p:spPr>
          <a:xfrm>
            <a:off x="6534615" y="1865376"/>
            <a:ext cx="2152185"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NAME</a:t>
            </a:r>
          </a:p>
          <a:p>
            <a:pPr marL="0" indent="0" algn="l">
              <a:buNone/>
            </a:pPr>
            <a:r>
              <a:rPr lang="en-US" sz="1200" i="1" dirty="0" err="1">
                <a:solidFill>
                  <a:srgbClr val="6F7399"/>
                </a:solidFill>
                <a:latin typeface="Calibri" pitchFamily="34" charset="0"/>
                <a:ea typeface="Calibri" pitchFamily="34" charset="-122"/>
                <a:cs typeface="Calibri" pitchFamily="34" charset="-120"/>
              </a:rPr>
              <a:t>HackLords</a:t>
            </a:r>
            <a:endParaRPr lang="en-US" sz="900" dirty="0"/>
          </a:p>
        </p:txBody>
      </p:sp>
      <p:sp>
        <p:nvSpPr>
          <p:cNvPr id="13" name="Field: TEAM LEADER"/>
          <p:cNvSpPr/>
          <p:nvPr/>
        </p:nvSpPr>
        <p:spPr>
          <a:xfrm>
            <a:off x="4023360" y="246888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LEADER</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Pranali </a:t>
            </a:r>
            <a:r>
              <a:rPr lang="en-US" sz="1200" i="1" dirty="0" err="1">
                <a:solidFill>
                  <a:srgbClr val="6F7399"/>
                </a:solidFill>
                <a:latin typeface="Calibri" pitchFamily="34" charset="0"/>
                <a:ea typeface="Calibri" pitchFamily="34" charset="-122"/>
                <a:cs typeface="Calibri" pitchFamily="34" charset="-120"/>
              </a:rPr>
              <a:t>Basarikatti</a:t>
            </a:r>
            <a:endParaRPr lang="en-US" sz="900" dirty="0"/>
          </a:p>
        </p:txBody>
      </p:sp>
      <p:sp>
        <p:nvSpPr>
          <p:cNvPr id="14" name="Field: EMAIL / CONTACT"/>
          <p:cNvSpPr/>
          <p:nvPr/>
        </p:nvSpPr>
        <p:spPr>
          <a:xfrm>
            <a:off x="6400800" y="246888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EMAIL / CONTACT</a:t>
            </a:r>
            <a:endParaRPr lang="en-US" sz="900" dirty="0"/>
          </a:p>
          <a:p>
            <a:r>
              <a:rPr lang="en-US" sz="900" dirty="0">
                <a:hlinkClick r:id="rId7"/>
              </a:rPr>
              <a:t>pranalib2026@gmail.com</a:t>
            </a:r>
            <a:r>
              <a:rPr lang="en-US" sz="900" dirty="0"/>
              <a:t> / 9663667098</a:t>
            </a:r>
          </a:p>
        </p:txBody>
      </p:sp>
      <p:sp>
        <p:nvSpPr>
          <p:cNvPr id="15" name="Field: TEAM MEMBERS"/>
          <p:cNvSpPr/>
          <p:nvPr/>
        </p:nvSpPr>
        <p:spPr>
          <a:xfrm>
            <a:off x="4023360" y="3072384"/>
            <a:ext cx="4663440" cy="777240"/>
          </a:xfrm>
          <a:prstGeom prst="roundRect">
            <a:avLst>
              <a:gd name="adj" fmla="val 7059"/>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MEMBERS</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Pratham W  ·  Shreya </a:t>
            </a:r>
            <a:r>
              <a:rPr lang="en-US" sz="1200" i="1" dirty="0" err="1">
                <a:solidFill>
                  <a:srgbClr val="6F7399"/>
                </a:solidFill>
                <a:latin typeface="Calibri" pitchFamily="34" charset="0"/>
                <a:ea typeface="Calibri" pitchFamily="34" charset="-122"/>
                <a:cs typeface="Calibri" pitchFamily="34" charset="-120"/>
              </a:rPr>
              <a:t>Bhadrashetti</a:t>
            </a:r>
            <a:endParaRPr lang="en-US" sz="900" dirty="0"/>
          </a:p>
        </p:txBody>
      </p:sp>
      <p:sp>
        <p:nvSpPr>
          <p:cNvPr id="16" name="Field: INSTITUTION / ORGANISATION"/>
          <p:cNvSpPr/>
          <p:nvPr/>
        </p:nvSpPr>
        <p:spPr>
          <a:xfrm>
            <a:off x="4023360" y="3922776"/>
            <a:ext cx="2286000" cy="656658"/>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INSTITUTION / ORGANISATION</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Jain College of Engineering and research</a:t>
            </a:r>
            <a:endParaRPr lang="en-US" sz="900" dirty="0"/>
          </a:p>
        </p:txBody>
      </p:sp>
      <p:sp>
        <p:nvSpPr>
          <p:cNvPr id="17" name="Field: COUNTRY"/>
          <p:cNvSpPr/>
          <p:nvPr/>
        </p:nvSpPr>
        <p:spPr>
          <a:xfrm>
            <a:off x="6400800" y="39227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COUNTRY</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India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Problem Statement</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
        <p:nvSpPr>
          <p:cNvPr id="26" name="Section label"/>
          <p:cNvSpPr txBox="1"/>
          <p:nvPr/>
        </p:nvSpPr>
        <p:spPr>
          <a:xfrm>
            <a:off x="640080" y="1828800"/>
            <a:ext cx="3657600" cy="182880"/>
          </a:xfrm>
          <a:prstGeom prst="rect">
            <a:avLst/>
          </a:prstGeom>
          <a:noFill/>
        </p:spPr>
        <p:txBody>
          <a:bodyPr wrap="square" lIns="0" tIns="0" rIns="0" bIns="0" anchor="t">
            <a:spAutoFit/>
          </a:bodyPr>
          <a:lstStyle/>
          <a:p>
            <a:pPr algn="l"/>
            <a:r>
              <a:rPr sz="900" b="1" i="0">
                <a:solidFill>
                  <a:srgbClr val="E8639F"/>
                </a:solidFill>
                <a:latin typeface="Calibri"/>
              </a:rPr>
              <a:t>THE PROBLEM</a:t>
            </a:r>
          </a:p>
        </p:txBody>
      </p:sp>
      <p:sp>
        <p:nvSpPr>
          <p:cNvPr id="27" name="Section label"/>
          <p:cNvSpPr txBox="1"/>
          <p:nvPr/>
        </p:nvSpPr>
        <p:spPr>
          <a:xfrm>
            <a:off x="5806440" y="1828800"/>
            <a:ext cx="3657600" cy="182880"/>
          </a:xfrm>
          <a:prstGeom prst="rect">
            <a:avLst/>
          </a:prstGeom>
          <a:noFill/>
        </p:spPr>
        <p:txBody>
          <a:bodyPr wrap="square" lIns="0" tIns="0" rIns="0" bIns="0" anchor="t">
            <a:spAutoFit/>
          </a:bodyPr>
          <a:lstStyle/>
          <a:p>
            <a:pPr algn="l"/>
            <a:r>
              <a:rPr sz="900" b="1" i="0">
                <a:solidFill>
                  <a:srgbClr val="5B3BA8"/>
                </a:solidFill>
                <a:latin typeface="Calibri"/>
              </a:rPr>
              <a:t>AAROGYAM’S ANSWER</a:t>
            </a:r>
          </a:p>
        </p:txBody>
      </p:sp>
      <p:sp>
        <p:nvSpPr>
          <p:cNvPr id="28" name="Problem card"/>
          <p:cNvSpPr/>
          <p:nvPr/>
        </p:nvSpPr>
        <p:spPr>
          <a:xfrm>
            <a:off x="640080" y="2103120"/>
            <a:ext cx="2743200" cy="685800"/>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Icon bg"/>
          <p:cNvSpPr/>
          <p:nvPr/>
        </p:nvSpPr>
        <p:spPr>
          <a:xfrm>
            <a:off x="758952" y="2217420"/>
            <a:ext cx="457200" cy="457200"/>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FaQuestion" descr="FaQuestion_white.png"/>
          <p:cNvPicPr>
            <a:picLocks noChangeAspect="1"/>
          </p:cNvPicPr>
          <p:nvPr/>
        </p:nvPicPr>
        <p:blipFill>
          <a:blip r:embed="rId3"/>
          <a:stretch>
            <a:fillRect/>
          </a:stretch>
        </p:blipFill>
        <p:spPr>
          <a:xfrm>
            <a:off x="873252" y="2331720"/>
            <a:ext cx="228600" cy="228600"/>
          </a:xfrm>
          <a:prstGeom prst="rect">
            <a:avLst/>
          </a:prstGeom>
        </p:spPr>
      </p:pic>
      <p:sp>
        <p:nvSpPr>
          <p:cNvPr id="31" name="Problem text"/>
          <p:cNvSpPr txBox="1"/>
          <p:nvPr/>
        </p:nvSpPr>
        <p:spPr>
          <a:xfrm>
            <a:off x="1325880" y="2167128"/>
            <a:ext cx="1965960" cy="557784"/>
          </a:xfrm>
          <a:prstGeom prst="rect">
            <a:avLst/>
          </a:prstGeom>
          <a:noFill/>
        </p:spPr>
        <p:txBody>
          <a:bodyPr wrap="square" lIns="0" tIns="0" rIns="0" bIns="0" anchor="ctr">
            <a:spAutoFit/>
          </a:bodyPr>
          <a:lstStyle/>
          <a:p>
            <a:pPr algn="l"/>
            <a:r>
              <a:rPr sz="1200" b="1" i="0">
                <a:solidFill>
                  <a:srgbClr val="2E1B5B"/>
                </a:solidFill>
                <a:latin typeface="Calibri"/>
              </a:rPr>
              <a:t>Risk numbers are hard for people to read</a:t>
            </a:r>
          </a:p>
        </p:txBody>
      </p:sp>
      <p:cxnSp>
        <p:nvCxnSpPr>
          <p:cNvPr id="32" name="Arrow"/>
          <p:cNvCxnSpPr/>
          <p:nvPr/>
        </p:nvCxnSpPr>
        <p:spPr>
          <a:xfrm>
            <a:off x="3383280" y="2446020"/>
            <a:ext cx="475488" cy="422453"/>
          </a:xfrm>
          <a:prstGeom prst="line">
            <a:avLst/>
          </a:prstGeom>
          <a:ln w="22225">
            <a:solidFill>
              <a:srgbClr val="E8639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Problem card"/>
          <p:cNvSpPr/>
          <p:nvPr/>
        </p:nvSpPr>
        <p:spPr>
          <a:xfrm>
            <a:off x="640080" y="2871216"/>
            <a:ext cx="2743200" cy="685800"/>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Icon bg"/>
          <p:cNvSpPr/>
          <p:nvPr/>
        </p:nvSpPr>
        <p:spPr>
          <a:xfrm>
            <a:off x="758952" y="2985516"/>
            <a:ext cx="457200" cy="457200"/>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FaUserMd" descr="FaUserMd_white.png"/>
          <p:cNvPicPr>
            <a:picLocks noChangeAspect="1"/>
          </p:cNvPicPr>
          <p:nvPr/>
        </p:nvPicPr>
        <p:blipFill>
          <a:blip r:embed="rId4"/>
          <a:stretch>
            <a:fillRect/>
          </a:stretch>
        </p:blipFill>
        <p:spPr>
          <a:xfrm>
            <a:off x="873252" y="3099816"/>
            <a:ext cx="228600" cy="228600"/>
          </a:xfrm>
          <a:prstGeom prst="rect">
            <a:avLst/>
          </a:prstGeom>
        </p:spPr>
      </p:pic>
      <p:sp>
        <p:nvSpPr>
          <p:cNvPr id="36" name="Problem text"/>
          <p:cNvSpPr txBox="1"/>
          <p:nvPr/>
        </p:nvSpPr>
        <p:spPr>
          <a:xfrm>
            <a:off x="1325880" y="2935224"/>
            <a:ext cx="1965960" cy="557784"/>
          </a:xfrm>
          <a:prstGeom prst="rect">
            <a:avLst/>
          </a:prstGeom>
          <a:noFill/>
        </p:spPr>
        <p:txBody>
          <a:bodyPr wrap="square" lIns="0" tIns="0" rIns="0" bIns="0" anchor="ctr">
            <a:spAutoFit/>
          </a:bodyPr>
          <a:lstStyle/>
          <a:p>
            <a:pPr algn="l"/>
            <a:r>
              <a:rPr sz="1200" b="1" i="0">
                <a:solidFill>
                  <a:srgbClr val="2E1B5B"/>
                </a:solidFill>
                <a:latin typeface="Calibri"/>
              </a:rPr>
              <a:t>Clinicians need clear, organised summaries</a:t>
            </a:r>
          </a:p>
        </p:txBody>
      </p:sp>
      <p:cxnSp>
        <p:nvCxnSpPr>
          <p:cNvPr id="37" name="Arrow"/>
          <p:cNvCxnSpPr/>
          <p:nvPr/>
        </p:nvCxnSpPr>
        <p:spPr>
          <a:xfrm>
            <a:off x="3383280" y="3214116"/>
            <a:ext cx="475488" cy="0"/>
          </a:xfrm>
          <a:prstGeom prst="line">
            <a:avLst/>
          </a:prstGeom>
          <a:ln w="22225">
            <a:solidFill>
              <a:srgbClr val="E8639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Problem card"/>
          <p:cNvSpPr/>
          <p:nvPr/>
        </p:nvSpPr>
        <p:spPr>
          <a:xfrm>
            <a:off x="640080" y="3639312"/>
            <a:ext cx="2743200" cy="685800"/>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Icon bg"/>
          <p:cNvSpPr/>
          <p:nvPr/>
        </p:nvSpPr>
        <p:spPr>
          <a:xfrm>
            <a:off x="758952" y="3753612"/>
            <a:ext cx="457200" cy="457200"/>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FaAtom" descr="FaAtom_white.png"/>
          <p:cNvPicPr>
            <a:picLocks noChangeAspect="1"/>
          </p:cNvPicPr>
          <p:nvPr/>
        </p:nvPicPr>
        <p:blipFill>
          <a:blip r:embed="rId5"/>
          <a:stretch>
            <a:fillRect/>
          </a:stretch>
        </p:blipFill>
        <p:spPr>
          <a:xfrm>
            <a:off x="873252" y="3867912"/>
            <a:ext cx="228600" cy="228600"/>
          </a:xfrm>
          <a:prstGeom prst="rect">
            <a:avLst/>
          </a:prstGeom>
        </p:spPr>
      </p:pic>
      <p:sp>
        <p:nvSpPr>
          <p:cNvPr id="41" name="Problem text"/>
          <p:cNvSpPr txBox="1"/>
          <p:nvPr/>
        </p:nvSpPr>
        <p:spPr>
          <a:xfrm>
            <a:off x="1325880" y="3703320"/>
            <a:ext cx="1965960" cy="557784"/>
          </a:xfrm>
          <a:prstGeom prst="rect">
            <a:avLst/>
          </a:prstGeom>
          <a:noFill/>
        </p:spPr>
        <p:txBody>
          <a:bodyPr wrap="square" lIns="0" tIns="0" rIns="0" bIns="0" anchor="ctr">
            <a:spAutoFit/>
          </a:bodyPr>
          <a:lstStyle/>
          <a:p>
            <a:pPr algn="l"/>
            <a:r>
              <a:rPr sz="1200" b="1" i="0">
                <a:solidFill>
                  <a:srgbClr val="2E1B5B"/>
                </a:solidFill>
                <a:latin typeface="Calibri"/>
              </a:rPr>
              <a:t>Quantum-ML demos rarely show honest tests</a:t>
            </a:r>
          </a:p>
        </p:txBody>
      </p:sp>
      <p:cxnSp>
        <p:nvCxnSpPr>
          <p:cNvPr id="42" name="Arrow"/>
          <p:cNvCxnSpPr/>
          <p:nvPr/>
        </p:nvCxnSpPr>
        <p:spPr>
          <a:xfrm flipV="1">
            <a:off x="3383280" y="3559759"/>
            <a:ext cx="475488" cy="422453"/>
          </a:xfrm>
          <a:prstGeom prst="line">
            <a:avLst/>
          </a:prstGeom>
          <a:ln w="22225">
            <a:solidFill>
              <a:srgbClr val="E8639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Gap node"/>
          <p:cNvSpPr/>
          <p:nvPr/>
        </p:nvSpPr>
        <p:spPr>
          <a:xfrm>
            <a:off x="3858768" y="2606040"/>
            <a:ext cx="1335024" cy="1216152"/>
          </a:xfrm>
          <a:prstGeom prst="roundRect">
            <a:avLst>
              <a:gd name="adj" fmla="val 18000"/>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300"/>
              </a:spcAft>
            </a:pPr>
            <a:r>
              <a:rPr sz="1000" b="1" i="0">
                <a:solidFill>
                  <a:srgbClr val="E8639F"/>
                </a:solidFill>
                <a:latin typeface="Calibri"/>
              </a:rPr>
              <a:t>THE GAP</a:t>
            </a:r>
          </a:p>
          <a:p>
            <a:pPr algn="ctr"/>
            <a:r>
              <a:rPr sz="1100" b="1" i="0">
                <a:solidFill>
                  <a:srgbClr val="FFFFFF"/>
                </a:solidFill>
                <a:latin typeface="Calibri"/>
              </a:rPr>
              <a:t>Understandable, measurable, responsible</a:t>
            </a:r>
          </a:p>
        </p:txBody>
      </p:sp>
      <p:cxnSp>
        <p:nvCxnSpPr>
          <p:cNvPr id="44" name="Arrow"/>
          <p:cNvCxnSpPr/>
          <p:nvPr/>
        </p:nvCxnSpPr>
        <p:spPr>
          <a:xfrm flipV="1">
            <a:off x="5193792" y="2446020"/>
            <a:ext cx="594360" cy="422453"/>
          </a:xfrm>
          <a:prstGeom prst="line">
            <a:avLst/>
          </a:prstGeom>
          <a:ln w="22225">
            <a:solidFill>
              <a:srgbClr val="5B3B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Answer card"/>
          <p:cNvSpPr/>
          <p:nvPr/>
        </p:nvSpPr>
        <p:spPr>
          <a:xfrm>
            <a:off x="5806440" y="2103120"/>
            <a:ext cx="2743200" cy="685800"/>
          </a:xfrm>
          <a:prstGeom prst="roundRect">
            <a:avLst>
              <a:gd name="adj" fmla="val 18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Icon bg"/>
          <p:cNvSpPr/>
          <p:nvPr/>
        </p:nvSpPr>
        <p:spPr>
          <a:xfrm>
            <a:off x="5925312" y="2217420"/>
            <a:ext cx="457200" cy="457200"/>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FaCommentMedical" descr="FaCommentMedical_white.png"/>
          <p:cNvPicPr>
            <a:picLocks noChangeAspect="1"/>
          </p:cNvPicPr>
          <p:nvPr/>
        </p:nvPicPr>
        <p:blipFill>
          <a:blip r:embed="rId6"/>
          <a:stretch>
            <a:fillRect/>
          </a:stretch>
        </p:blipFill>
        <p:spPr>
          <a:xfrm>
            <a:off x="6039612" y="2331720"/>
            <a:ext cx="228600" cy="228600"/>
          </a:xfrm>
          <a:prstGeom prst="rect">
            <a:avLst/>
          </a:prstGeom>
        </p:spPr>
      </p:pic>
      <p:sp>
        <p:nvSpPr>
          <p:cNvPr id="48" name="Answer text"/>
          <p:cNvSpPr txBox="1"/>
          <p:nvPr/>
        </p:nvSpPr>
        <p:spPr>
          <a:xfrm>
            <a:off x="6492240" y="2167128"/>
            <a:ext cx="1965960" cy="557784"/>
          </a:xfrm>
          <a:prstGeom prst="rect">
            <a:avLst/>
          </a:prstGeom>
          <a:noFill/>
        </p:spPr>
        <p:txBody>
          <a:bodyPr wrap="square" lIns="0" tIns="0" rIns="0" bIns="0" anchor="ctr">
            <a:spAutoFit/>
          </a:bodyPr>
          <a:lstStyle/>
          <a:p>
            <a:pPr algn="l"/>
            <a:r>
              <a:rPr sz="1200" b="1" i="0">
                <a:solidFill>
                  <a:srgbClr val="FFFFFF"/>
                </a:solidFill>
                <a:latin typeface="Calibri"/>
              </a:rPr>
              <a:t>Plain-language, clearly labelled estimates</a:t>
            </a:r>
          </a:p>
        </p:txBody>
      </p:sp>
      <p:cxnSp>
        <p:nvCxnSpPr>
          <p:cNvPr id="49" name="Arrow"/>
          <p:cNvCxnSpPr/>
          <p:nvPr/>
        </p:nvCxnSpPr>
        <p:spPr>
          <a:xfrm>
            <a:off x="5193792" y="3214116"/>
            <a:ext cx="594360" cy="0"/>
          </a:xfrm>
          <a:prstGeom prst="line">
            <a:avLst/>
          </a:prstGeom>
          <a:ln w="22225">
            <a:solidFill>
              <a:srgbClr val="5B3B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Answer card"/>
          <p:cNvSpPr/>
          <p:nvPr/>
        </p:nvSpPr>
        <p:spPr>
          <a:xfrm>
            <a:off x="5806440" y="2871216"/>
            <a:ext cx="2743200" cy="685800"/>
          </a:xfrm>
          <a:prstGeom prst="roundRect">
            <a:avLst>
              <a:gd name="adj" fmla="val 18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Icon bg"/>
          <p:cNvSpPr/>
          <p:nvPr/>
        </p:nvSpPr>
        <p:spPr>
          <a:xfrm>
            <a:off x="5925312" y="2985516"/>
            <a:ext cx="457200" cy="457200"/>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 name="FaUsers" descr="FaUsers_white.png"/>
          <p:cNvPicPr>
            <a:picLocks noChangeAspect="1"/>
          </p:cNvPicPr>
          <p:nvPr/>
        </p:nvPicPr>
        <p:blipFill>
          <a:blip r:embed="rId7"/>
          <a:stretch>
            <a:fillRect/>
          </a:stretch>
        </p:blipFill>
        <p:spPr>
          <a:xfrm>
            <a:off x="6039612" y="3099816"/>
            <a:ext cx="228600" cy="228600"/>
          </a:xfrm>
          <a:prstGeom prst="rect">
            <a:avLst/>
          </a:prstGeom>
        </p:spPr>
      </p:pic>
      <p:sp>
        <p:nvSpPr>
          <p:cNvPr id="53" name="Answer text"/>
          <p:cNvSpPr txBox="1"/>
          <p:nvPr/>
        </p:nvSpPr>
        <p:spPr>
          <a:xfrm>
            <a:off x="6492240" y="2935224"/>
            <a:ext cx="1965960" cy="557784"/>
          </a:xfrm>
          <a:prstGeom prst="rect">
            <a:avLst/>
          </a:prstGeom>
          <a:noFill/>
        </p:spPr>
        <p:txBody>
          <a:bodyPr wrap="square" lIns="0" tIns="0" rIns="0" bIns="0" anchor="ctr">
            <a:spAutoFit/>
          </a:bodyPr>
          <a:lstStyle/>
          <a:p>
            <a:pPr algn="l"/>
            <a:r>
              <a:rPr sz="1200" b="1" i="0">
                <a:solidFill>
                  <a:srgbClr val="FFFFFF"/>
                </a:solidFill>
                <a:latin typeface="Calibri"/>
              </a:rPr>
              <a:t>Patient and clinician portals</a:t>
            </a:r>
          </a:p>
        </p:txBody>
      </p:sp>
      <p:cxnSp>
        <p:nvCxnSpPr>
          <p:cNvPr id="54" name="Arrow"/>
          <p:cNvCxnSpPr/>
          <p:nvPr/>
        </p:nvCxnSpPr>
        <p:spPr>
          <a:xfrm>
            <a:off x="5193792" y="3559759"/>
            <a:ext cx="594360" cy="422453"/>
          </a:xfrm>
          <a:prstGeom prst="line">
            <a:avLst/>
          </a:prstGeom>
          <a:ln w="22225">
            <a:solidFill>
              <a:srgbClr val="5B3B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Answer card"/>
          <p:cNvSpPr/>
          <p:nvPr/>
        </p:nvSpPr>
        <p:spPr>
          <a:xfrm>
            <a:off x="5806440" y="3639312"/>
            <a:ext cx="2743200" cy="685800"/>
          </a:xfrm>
          <a:prstGeom prst="roundRect">
            <a:avLst>
              <a:gd name="adj" fmla="val 18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Icon bg"/>
          <p:cNvSpPr/>
          <p:nvPr/>
        </p:nvSpPr>
        <p:spPr>
          <a:xfrm>
            <a:off x="5925312" y="3753612"/>
            <a:ext cx="457200" cy="457200"/>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7" name="FaBalanceScale" descr="FaBalanceScale_white.png"/>
          <p:cNvPicPr>
            <a:picLocks noChangeAspect="1"/>
          </p:cNvPicPr>
          <p:nvPr/>
        </p:nvPicPr>
        <p:blipFill>
          <a:blip r:embed="rId8"/>
          <a:stretch>
            <a:fillRect/>
          </a:stretch>
        </p:blipFill>
        <p:spPr>
          <a:xfrm>
            <a:off x="6039612" y="3867912"/>
            <a:ext cx="228600" cy="228600"/>
          </a:xfrm>
          <a:prstGeom prst="rect">
            <a:avLst/>
          </a:prstGeom>
        </p:spPr>
      </p:pic>
      <p:sp>
        <p:nvSpPr>
          <p:cNvPr id="58" name="Answer text"/>
          <p:cNvSpPr txBox="1"/>
          <p:nvPr/>
        </p:nvSpPr>
        <p:spPr>
          <a:xfrm>
            <a:off x="6492240" y="3703320"/>
            <a:ext cx="1965960" cy="557784"/>
          </a:xfrm>
          <a:prstGeom prst="rect">
            <a:avLst/>
          </a:prstGeom>
          <a:noFill/>
        </p:spPr>
        <p:txBody>
          <a:bodyPr wrap="square" lIns="0" tIns="0" rIns="0" bIns="0" anchor="ctr">
            <a:spAutoFit/>
          </a:bodyPr>
          <a:lstStyle/>
          <a:p>
            <a:pPr algn="l"/>
            <a:r>
              <a:rPr sz="1200" b="1" i="0">
                <a:solidFill>
                  <a:srgbClr val="FFFFFF"/>
                </a:solidFill>
                <a:latin typeface="Calibri"/>
              </a:rPr>
              <a:t>Measured classical vs quantum results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Objectives &amp; Novelty</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3</a:t>
            </a:fld>
            <a:endParaRPr lang="en-US"/>
          </a:p>
        </p:txBody>
      </p:sp>
      <p:sp>
        <p:nvSpPr>
          <p:cNvPr id="26" name="Section label"/>
          <p:cNvSpPr txBox="1"/>
          <p:nvPr/>
        </p:nvSpPr>
        <p:spPr>
          <a:xfrm>
            <a:off x="640080" y="1828800"/>
            <a:ext cx="3657600" cy="182880"/>
          </a:xfrm>
          <a:prstGeom prst="rect">
            <a:avLst/>
          </a:prstGeom>
          <a:noFill/>
        </p:spPr>
        <p:txBody>
          <a:bodyPr wrap="square" lIns="0" tIns="0" rIns="0" bIns="0" anchor="t">
            <a:spAutoFit/>
          </a:bodyPr>
          <a:lstStyle/>
          <a:p>
            <a:pPr algn="l"/>
            <a:r>
              <a:rPr sz="900" b="1" i="0">
                <a:solidFill>
                  <a:srgbClr val="5B3BA8"/>
                </a:solidFill>
                <a:latin typeface="Calibri"/>
              </a:rPr>
              <a:t>OBJECTIVES</a:t>
            </a:r>
          </a:p>
        </p:txBody>
      </p:sp>
      <p:sp>
        <p:nvSpPr>
          <p:cNvPr id="27" name="Section label"/>
          <p:cNvSpPr txBox="1"/>
          <p:nvPr/>
        </p:nvSpPr>
        <p:spPr>
          <a:xfrm>
            <a:off x="6172200" y="1828800"/>
            <a:ext cx="2377440" cy="182880"/>
          </a:xfrm>
          <a:prstGeom prst="rect">
            <a:avLst/>
          </a:prstGeom>
          <a:noFill/>
        </p:spPr>
        <p:txBody>
          <a:bodyPr wrap="square" lIns="0" tIns="0" rIns="0" bIns="0" anchor="t">
            <a:spAutoFit/>
          </a:bodyPr>
          <a:lstStyle/>
          <a:p>
            <a:pPr algn="l"/>
            <a:r>
              <a:rPr sz="900" b="1" i="0">
                <a:solidFill>
                  <a:srgbClr val="E8639F"/>
                </a:solidFill>
                <a:latin typeface="Calibri"/>
              </a:rPr>
              <a:t>NOVELTY (QGENE ENGINE)</a:t>
            </a:r>
          </a:p>
        </p:txBody>
      </p:sp>
      <p:cxnSp>
        <p:nvCxnSpPr>
          <p:cNvPr id="28" name="Branch"/>
          <p:cNvCxnSpPr/>
          <p:nvPr/>
        </p:nvCxnSpPr>
        <p:spPr>
          <a:xfrm>
            <a:off x="2971800" y="2359152"/>
            <a:ext cx="912236" cy="479575"/>
          </a:xfrm>
          <a:prstGeom prst="line">
            <a:avLst/>
          </a:prstGeom>
          <a:ln w="19050">
            <a:solidFill>
              <a:srgbClr val="7C93F0"/>
            </a:solidFill>
          </a:ln>
        </p:spPr>
        <p:style>
          <a:lnRef idx="2">
            <a:schemeClr val="accent1"/>
          </a:lnRef>
          <a:fillRef idx="0">
            <a:schemeClr val="accent1"/>
          </a:fillRef>
          <a:effectRef idx="1">
            <a:schemeClr val="accent1"/>
          </a:effectRef>
          <a:fontRef idx="minor">
            <a:schemeClr val="tx1"/>
          </a:fontRef>
        </p:style>
      </p:cxnSp>
      <p:cxnSp>
        <p:nvCxnSpPr>
          <p:cNvPr id="29" name="Branch"/>
          <p:cNvCxnSpPr/>
          <p:nvPr/>
        </p:nvCxnSpPr>
        <p:spPr>
          <a:xfrm flipH="1">
            <a:off x="5259964" y="2359152"/>
            <a:ext cx="912236" cy="479575"/>
          </a:xfrm>
          <a:prstGeom prst="line">
            <a:avLst/>
          </a:prstGeom>
          <a:ln w="19050">
            <a:solidFill>
              <a:srgbClr val="E8639F"/>
            </a:solidFill>
          </a:ln>
        </p:spPr>
        <p:style>
          <a:lnRef idx="2">
            <a:schemeClr val="accent1"/>
          </a:lnRef>
          <a:fillRef idx="0">
            <a:schemeClr val="accent1"/>
          </a:fillRef>
          <a:effectRef idx="1">
            <a:schemeClr val="accent1"/>
          </a:effectRef>
          <a:fontRef idx="minor">
            <a:schemeClr val="tx1"/>
          </a:fontRef>
        </p:style>
      </p:cxnSp>
      <p:cxnSp>
        <p:nvCxnSpPr>
          <p:cNvPr id="30" name="Branch"/>
          <p:cNvCxnSpPr/>
          <p:nvPr/>
        </p:nvCxnSpPr>
        <p:spPr>
          <a:xfrm>
            <a:off x="2971800" y="2980944"/>
            <a:ext cx="830168" cy="113852"/>
          </a:xfrm>
          <a:prstGeom prst="line">
            <a:avLst/>
          </a:prstGeom>
          <a:ln w="19050">
            <a:solidFill>
              <a:srgbClr val="7C93F0"/>
            </a:solidFill>
          </a:ln>
        </p:spPr>
        <p:style>
          <a:lnRef idx="2">
            <a:schemeClr val="accent1"/>
          </a:lnRef>
          <a:fillRef idx="0">
            <a:schemeClr val="accent1"/>
          </a:fillRef>
          <a:effectRef idx="1">
            <a:schemeClr val="accent1"/>
          </a:effectRef>
          <a:fontRef idx="minor">
            <a:schemeClr val="tx1"/>
          </a:fontRef>
        </p:style>
      </p:cxnSp>
      <p:cxnSp>
        <p:nvCxnSpPr>
          <p:cNvPr id="31" name="Branch"/>
          <p:cNvCxnSpPr/>
          <p:nvPr/>
        </p:nvCxnSpPr>
        <p:spPr>
          <a:xfrm flipH="1">
            <a:off x="5342032" y="2980944"/>
            <a:ext cx="830168" cy="113852"/>
          </a:xfrm>
          <a:prstGeom prst="line">
            <a:avLst/>
          </a:prstGeom>
          <a:ln w="19050">
            <a:solidFill>
              <a:srgbClr val="E8639F"/>
            </a:solidFill>
          </a:ln>
        </p:spPr>
        <p:style>
          <a:lnRef idx="2">
            <a:schemeClr val="accent1"/>
          </a:lnRef>
          <a:fillRef idx="0">
            <a:schemeClr val="accent1"/>
          </a:fillRef>
          <a:effectRef idx="1">
            <a:schemeClr val="accent1"/>
          </a:effectRef>
          <a:fontRef idx="minor">
            <a:schemeClr val="tx1"/>
          </a:fontRef>
        </p:style>
      </p:cxnSp>
      <p:cxnSp>
        <p:nvCxnSpPr>
          <p:cNvPr id="32" name="Branch"/>
          <p:cNvCxnSpPr/>
          <p:nvPr/>
        </p:nvCxnSpPr>
        <p:spPr>
          <a:xfrm flipV="1">
            <a:off x="2971800" y="3389922"/>
            <a:ext cx="846420" cy="212814"/>
          </a:xfrm>
          <a:prstGeom prst="line">
            <a:avLst/>
          </a:prstGeom>
          <a:ln w="19050">
            <a:solidFill>
              <a:srgbClr val="7C93F0"/>
            </a:solidFill>
          </a:ln>
        </p:spPr>
        <p:style>
          <a:lnRef idx="2">
            <a:schemeClr val="accent1"/>
          </a:lnRef>
          <a:fillRef idx="0">
            <a:schemeClr val="accent1"/>
          </a:fillRef>
          <a:effectRef idx="1">
            <a:schemeClr val="accent1"/>
          </a:effectRef>
          <a:fontRef idx="minor">
            <a:schemeClr val="tx1"/>
          </a:fontRef>
        </p:style>
      </p:cxnSp>
      <p:cxnSp>
        <p:nvCxnSpPr>
          <p:cNvPr id="33" name="Branch"/>
          <p:cNvCxnSpPr/>
          <p:nvPr/>
        </p:nvCxnSpPr>
        <p:spPr>
          <a:xfrm flipH="1" flipV="1">
            <a:off x="5325780" y="3389922"/>
            <a:ext cx="846420" cy="212814"/>
          </a:xfrm>
          <a:prstGeom prst="line">
            <a:avLst/>
          </a:prstGeom>
          <a:ln w="19050">
            <a:solidFill>
              <a:srgbClr val="E8639F"/>
            </a:solidFill>
          </a:ln>
        </p:spPr>
        <p:style>
          <a:lnRef idx="2">
            <a:schemeClr val="accent1"/>
          </a:lnRef>
          <a:fillRef idx="0">
            <a:schemeClr val="accent1"/>
          </a:fillRef>
          <a:effectRef idx="1">
            <a:schemeClr val="accent1"/>
          </a:effectRef>
          <a:fontRef idx="minor">
            <a:schemeClr val="tx1"/>
          </a:fontRef>
        </p:style>
      </p:cxnSp>
      <p:cxnSp>
        <p:nvCxnSpPr>
          <p:cNvPr id="34" name="Branch"/>
          <p:cNvCxnSpPr/>
          <p:nvPr/>
        </p:nvCxnSpPr>
        <p:spPr>
          <a:xfrm flipV="1">
            <a:off x="2971800" y="3619374"/>
            <a:ext cx="945553" cy="605154"/>
          </a:xfrm>
          <a:prstGeom prst="line">
            <a:avLst/>
          </a:prstGeom>
          <a:ln w="19050">
            <a:solidFill>
              <a:srgbClr val="7C93F0"/>
            </a:solidFill>
          </a:ln>
        </p:spPr>
        <p:style>
          <a:lnRef idx="2">
            <a:schemeClr val="accent1"/>
          </a:lnRef>
          <a:fillRef idx="0">
            <a:schemeClr val="accent1"/>
          </a:fillRef>
          <a:effectRef idx="1">
            <a:schemeClr val="accent1"/>
          </a:effectRef>
          <a:fontRef idx="minor">
            <a:schemeClr val="tx1"/>
          </a:fontRef>
        </p:style>
      </p:cxnSp>
      <p:cxnSp>
        <p:nvCxnSpPr>
          <p:cNvPr id="35" name="Branch"/>
          <p:cNvCxnSpPr/>
          <p:nvPr/>
        </p:nvCxnSpPr>
        <p:spPr>
          <a:xfrm flipH="1" flipV="1">
            <a:off x="5226647" y="3619374"/>
            <a:ext cx="945553" cy="605154"/>
          </a:xfrm>
          <a:prstGeom prst="line">
            <a:avLst/>
          </a:prstGeom>
          <a:ln w="19050">
            <a:solidFill>
              <a:srgbClr val="E8639F"/>
            </a:solidFill>
          </a:ln>
        </p:spPr>
        <p:style>
          <a:lnRef idx="2">
            <a:schemeClr val="accent1"/>
          </a:lnRef>
          <a:fillRef idx="0">
            <a:schemeClr val="accent1"/>
          </a:fillRef>
          <a:effectRef idx="1">
            <a:schemeClr val="accent1"/>
          </a:effectRef>
          <a:fontRef idx="minor">
            <a:schemeClr val="tx1"/>
          </a:fontRef>
        </p:style>
      </p:cxnSp>
      <p:sp>
        <p:nvSpPr>
          <p:cNvPr id="36" name="Objective node"/>
          <p:cNvSpPr/>
          <p:nvPr/>
        </p:nvSpPr>
        <p:spPr>
          <a:xfrm>
            <a:off x="640080" y="2103120"/>
            <a:ext cx="2331720" cy="512064"/>
          </a:xfrm>
          <a:prstGeom prst="roundRect">
            <a:avLst>
              <a:gd name="adj" fmla="val 18000"/>
            </a:avLst>
          </a:prstGeom>
          <a:solidFill>
            <a:srgbClr val="EEF0FE"/>
          </a:solidFill>
          <a:ln w="12700">
            <a:solidFill>
              <a:srgbClr val="7C9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Icon bg"/>
          <p:cNvSpPr/>
          <p:nvPr/>
        </p:nvSpPr>
        <p:spPr>
          <a:xfrm>
            <a:off x="768096" y="2194560"/>
            <a:ext cx="329184" cy="329184"/>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FaHeartbeat" descr="FaHeartbeat_white.png"/>
          <p:cNvPicPr>
            <a:picLocks noChangeAspect="1"/>
          </p:cNvPicPr>
          <p:nvPr/>
        </p:nvPicPr>
        <p:blipFill>
          <a:blip r:embed="rId3"/>
          <a:stretch>
            <a:fillRect/>
          </a:stretch>
        </p:blipFill>
        <p:spPr>
          <a:xfrm>
            <a:off x="850392" y="2276856"/>
            <a:ext cx="164592" cy="164592"/>
          </a:xfrm>
          <a:prstGeom prst="rect">
            <a:avLst/>
          </a:prstGeom>
        </p:spPr>
      </p:pic>
      <p:sp>
        <p:nvSpPr>
          <p:cNvPr id="39" name="Objective text"/>
          <p:cNvSpPr txBox="1"/>
          <p:nvPr/>
        </p:nvSpPr>
        <p:spPr>
          <a:xfrm>
            <a:off x="1170432" y="2139696"/>
            <a:ext cx="1737360" cy="438912"/>
          </a:xfrm>
          <a:prstGeom prst="rect">
            <a:avLst/>
          </a:prstGeom>
          <a:noFill/>
        </p:spPr>
        <p:txBody>
          <a:bodyPr wrap="square" lIns="0" tIns="0" rIns="0" bIns="0" anchor="ctr">
            <a:spAutoFit/>
          </a:bodyPr>
          <a:lstStyle/>
          <a:p>
            <a:pPr algn="l"/>
            <a:r>
              <a:rPr sz="1050" b="1" i="0">
                <a:solidFill>
                  <a:srgbClr val="2E1B5B"/>
                </a:solidFill>
                <a:latin typeface="Calibri"/>
              </a:rPr>
              <a:t>Two separate tasks:</a:t>
            </a:r>
          </a:p>
          <a:p>
            <a:pPr algn="l"/>
            <a:r>
              <a:rPr sz="1050" b="1" i="0">
                <a:solidFill>
                  <a:srgbClr val="2E1B5B"/>
                </a:solidFill>
                <a:latin typeface="Calibri"/>
              </a:rPr>
              <a:t>heart and diabetes</a:t>
            </a:r>
          </a:p>
        </p:txBody>
      </p:sp>
      <p:sp>
        <p:nvSpPr>
          <p:cNvPr id="40" name="Objective node"/>
          <p:cNvSpPr/>
          <p:nvPr/>
        </p:nvSpPr>
        <p:spPr>
          <a:xfrm>
            <a:off x="640080" y="2724912"/>
            <a:ext cx="2331720" cy="512064"/>
          </a:xfrm>
          <a:prstGeom prst="roundRect">
            <a:avLst>
              <a:gd name="adj" fmla="val 18000"/>
            </a:avLst>
          </a:prstGeom>
          <a:solidFill>
            <a:srgbClr val="EEF0FE"/>
          </a:solidFill>
          <a:ln w="12700">
            <a:solidFill>
              <a:srgbClr val="7C9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Icon bg"/>
          <p:cNvSpPr/>
          <p:nvPr/>
        </p:nvSpPr>
        <p:spPr>
          <a:xfrm>
            <a:off x="768096" y="2816352"/>
            <a:ext cx="329184" cy="329184"/>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FaBalanceScale" descr="FaBalanceScale_white.png"/>
          <p:cNvPicPr>
            <a:picLocks noChangeAspect="1"/>
          </p:cNvPicPr>
          <p:nvPr/>
        </p:nvPicPr>
        <p:blipFill>
          <a:blip r:embed="rId4"/>
          <a:stretch>
            <a:fillRect/>
          </a:stretch>
        </p:blipFill>
        <p:spPr>
          <a:xfrm>
            <a:off x="850392" y="2898648"/>
            <a:ext cx="164592" cy="164592"/>
          </a:xfrm>
          <a:prstGeom prst="rect">
            <a:avLst/>
          </a:prstGeom>
        </p:spPr>
      </p:pic>
      <p:sp>
        <p:nvSpPr>
          <p:cNvPr id="43" name="Objective text"/>
          <p:cNvSpPr txBox="1"/>
          <p:nvPr/>
        </p:nvSpPr>
        <p:spPr>
          <a:xfrm>
            <a:off x="1170432" y="2761488"/>
            <a:ext cx="1737360" cy="438912"/>
          </a:xfrm>
          <a:prstGeom prst="rect">
            <a:avLst/>
          </a:prstGeom>
          <a:noFill/>
        </p:spPr>
        <p:txBody>
          <a:bodyPr wrap="square" lIns="0" tIns="0" rIns="0" bIns="0" anchor="ctr">
            <a:spAutoFit/>
          </a:bodyPr>
          <a:lstStyle/>
          <a:p>
            <a:pPr algn="l"/>
            <a:r>
              <a:rPr sz="1050" b="1" i="0">
                <a:solidFill>
                  <a:srgbClr val="2E1B5B"/>
                </a:solidFill>
                <a:latin typeface="Calibri"/>
              </a:rPr>
              <a:t>Fair classical vs</a:t>
            </a:r>
          </a:p>
          <a:p>
            <a:pPr algn="l"/>
            <a:r>
              <a:rPr sz="1050" b="1" i="0">
                <a:solidFill>
                  <a:srgbClr val="2E1B5B"/>
                </a:solidFill>
                <a:latin typeface="Calibri"/>
              </a:rPr>
              <a:t>quantum comparison</a:t>
            </a:r>
          </a:p>
        </p:txBody>
      </p:sp>
      <p:sp>
        <p:nvSpPr>
          <p:cNvPr id="44" name="Objective node"/>
          <p:cNvSpPr/>
          <p:nvPr/>
        </p:nvSpPr>
        <p:spPr>
          <a:xfrm>
            <a:off x="640080" y="3346704"/>
            <a:ext cx="2331720" cy="512064"/>
          </a:xfrm>
          <a:prstGeom prst="roundRect">
            <a:avLst>
              <a:gd name="adj" fmla="val 18000"/>
            </a:avLst>
          </a:prstGeom>
          <a:solidFill>
            <a:srgbClr val="EEF0FE"/>
          </a:solidFill>
          <a:ln w="12700">
            <a:solidFill>
              <a:srgbClr val="7C9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Icon bg"/>
          <p:cNvSpPr/>
          <p:nvPr/>
        </p:nvSpPr>
        <p:spPr>
          <a:xfrm>
            <a:off x="768096" y="3438144"/>
            <a:ext cx="329184" cy="329184"/>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FaUsers" descr="FaUsers_white.png"/>
          <p:cNvPicPr>
            <a:picLocks noChangeAspect="1"/>
          </p:cNvPicPr>
          <p:nvPr/>
        </p:nvPicPr>
        <p:blipFill>
          <a:blip r:embed="rId5"/>
          <a:stretch>
            <a:fillRect/>
          </a:stretch>
        </p:blipFill>
        <p:spPr>
          <a:xfrm>
            <a:off x="850392" y="3520440"/>
            <a:ext cx="164592" cy="164592"/>
          </a:xfrm>
          <a:prstGeom prst="rect">
            <a:avLst/>
          </a:prstGeom>
        </p:spPr>
      </p:pic>
      <p:sp>
        <p:nvSpPr>
          <p:cNvPr id="47" name="Objective text"/>
          <p:cNvSpPr txBox="1"/>
          <p:nvPr/>
        </p:nvSpPr>
        <p:spPr>
          <a:xfrm>
            <a:off x="1170432" y="3383280"/>
            <a:ext cx="1737360" cy="438912"/>
          </a:xfrm>
          <a:prstGeom prst="rect">
            <a:avLst/>
          </a:prstGeom>
          <a:noFill/>
        </p:spPr>
        <p:txBody>
          <a:bodyPr wrap="square" lIns="0" tIns="0" rIns="0" bIns="0" anchor="ctr">
            <a:spAutoFit/>
          </a:bodyPr>
          <a:lstStyle/>
          <a:p>
            <a:pPr algn="l"/>
            <a:r>
              <a:rPr sz="1050" b="1" i="0">
                <a:solidFill>
                  <a:srgbClr val="2E1B5B"/>
                </a:solidFill>
                <a:latin typeface="Calibri"/>
              </a:rPr>
              <a:t>Patient and clinician</a:t>
            </a:r>
          </a:p>
          <a:p>
            <a:pPr algn="l"/>
            <a:r>
              <a:rPr sz="1050" b="1" i="0">
                <a:solidFill>
                  <a:srgbClr val="2E1B5B"/>
                </a:solidFill>
                <a:latin typeface="Calibri"/>
              </a:rPr>
              <a:t>portals</a:t>
            </a:r>
          </a:p>
        </p:txBody>
      </p:sp>
      <p:sp>
        <p:nvSpPr>
          <p:cNvPr id="48" name="Objective node"/>
          <p:cNvSpPr/>
          <p:nvPr/>
        </p:nvSpPr>
        <p:spPr>
          <a:xfrm>
            <a:off x="640080" y="3968496"/>
            <a:ext cx="2331720" cy="512064"/>
          </a:xfrm>
          <a:prstGeom prst="roundRect">
            <a:avLst>
              <a:gd name="adj" fmla="val 18000"/>
            </a:avLst>
          </a:prstGeom>
          <a:solidFill>
            <a:srgbClr val="EEF0FE"/>
          </a:solidFill>
          <a:ln w="12700">
            <a:solidFill>
              <a:srgbClr val="7C9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Icon bg"/>
          <p:cNvSpPr/>
          <p:nvPr/>
        </p:nvSpPr>
        <p:spPr>
          <a:xfrm>
            <a:off x="768096" y="4059936"/>
            <a:ext cx="329184" cy="329184"/>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0" name="FaShieldAlt" descr="FaShieldAlt_white.png"/>
          <p:cNvPicPr>
            <a:picLocks noChangeAspect="1"/>
          </p:cNvPicPr>
          <p:nvPr/>
        </p:nvPicPr>
        <p:blipFill>
          <a:blip r:embed="rId6"/>
          <a:stretch>
            <a:fillRect/>
          </a:stretch>
        </p:blipFill>
        <p:spPr>
          <a:xfrm>
            <a:off x="850392" y="4142232"/>
            <a:ext cx="164592" cy="164592"/>
          </a:xfrm>
          <a:prstGeom prst="rect">
            <a:avLst/>
          </a:prstGeom>
        </p:spPr>
      </p:pic>
      <p:sp>
        <p:nvSpPr>
          <p:cNvPr id="51" name="Objective text"/>
          <p:cNvSpPr txBox="1"/>
          <p:nvPr/>
        </p:nvSpPr>
        <p:spPr>
          <a:xfrm>
            <a:off x="1170432" y="4005072"/>
            <a:ext cx="1737360" cy="438912"/>
          </a:xfrm>
          <a:prstGeom prst="rect">
            <a:avLst/>
          </a:prstGeom>
          <a:noFill/>
        </p:spPr>
        <p:txBody>
          <a:bodyPr wrap="square" lIns="0" tIns="0" rIns="0" bIns="0" anchor="ctr">
            <a:spAutoFit/>
          </a:bodyPr>
          <a:lstStyle/>
          <a:p>
            <a:pPr algn="l"/>
            <a:r>
              <a:rPr sz="1050" b="1" i="0">
                <a:solidFill>
                  <a:srgbClr val="2E1B5B"/>
                </a:solidFill>
                <a:latin typeface="Calibri"/>
              </a:rPr>
              <a:t>Safe by design: QR,</a:t>
            </a:r>
          </a:p>
          <a:p>
            <a:pPr algn="l"/>
            <a:r>
              <a:rPr sz="1050" b="1" i="0">
                <a:solidFill>
                  <a:srgbClr val="2E1B5B"/>
                </a:solidFill>
                <a:latin typeface="Calibri"/>
              </a:rPr>
              <a:t>dialer, disclaimers</a:t>
            </a:r>
          </a:p>
        </p:txBody>
      </p:sp>
      <p:sp>
        <p:nvSpPr>
          <p:cNvPr id="52" name="Novelty node"/>
          <p:cNvSpPr/>
          <p:nvPr/>
        </p:nvSpPr>
        <p:spPr>
          <a:xfrm>
            <a:off x="6172200" y="2103120"/>
            <a:ext cx="2331720" cy="512064"/>
          </a:xfrm>
          <a:prstGeom prst="roundRect">
            <a:avLst>
              <a:gd name="adj" fmla="val 18000"/>
            </a:avLst>
          </a:prstGeom>
          <a:solidFill>
            <a:srgbClr val="FDE7F1"/>
          </a:solidFill>
          <a:ln w="12700">
            <a:solidFill>
              <a:srgbClr val="E863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con bg"/>
          <p:cNvSpPr/>
          <p:nvPr/>
        </p:nvSpPr>
        <p:spPr>
          <a:xfrm>
            <a:off x="6300216" y="2194560"/>
            <a:ext cx="329184" cy="329184"/>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4" name="FaSearch" descr="FaSearch_white.png"/>
          <p:cNvPicPr>
            <a:picLocks noChangeAspect="1"/>
          </p:cNvPicPr>
          <p:nvPr/>
        </p:nvPicPr>
        <p:blipFill>
          <a:blip r:embed="rId7"/>
          <a:stretch>
            <a:fillRect/>
          </a:stretch>
        </p:blipFill>
        <p:spPr>
          <a:xfrm>
            <a:off x="6382512" y="2276856"/>
            <a:ext cx="164592" cy="164592"/>
          </a:xfrm>
          <a:prstGeom prst="rect">
            <a:avLst/>
          </a:prstGeom>
        </p:spPr>
      </p:pic>
      <p:sp>
        <p:nvSpPr>
          <p:cNvPr id="55" name="Novelty text"/>
          <p:cNvSpPr txBox="1"/>
          <p:nvPr/>
        </p:nvSpPr>
        <p:spPr>
          <a:xfrm>
            <a:off x="6702552" y="2139696"/>
            <a:ext cx="1737360" cy="438912"/>
          </a:xfrm>
          <a:prstGeom prst="rect">
            <a:avLst/>
          </a:prstGeom>
          <a:noFill/>
        </p:spPr>
        <p:txBody>
          <a:bodyPr wrap="square" lIns="0" tIns="0" rIns="0" bIns="0" anchor="ctr">
            <a:spAutoFit/>
          </a:bodyPr>
          <a:lstStyle/>
          <a:p>
            <a:pPr algn="l"/>
            <a:r>
              <a:rPr sz="1050" b="1" i="0">
                <a:solidFill>
                  <a:srgbClr val="2E1B5B"/>
                </a:solidFill>
                <a:latin typeface="Calibri"/>
              </a:rPr>
              <a:t>Quantum-readiness check</a:t>
            </a:r>
          </a:p>
          <a:p>
            <a:pPr algn="l"/>
            <a:r>
              <a:rPr sz="1050" b="1" i="0">
                <a:solidFill>
                  <a:srgbClr val="2E1B5B"/>
                </a:solidFill>
                <a:latin typeface="Calibri"/>
              </a:rPr>
              <a:t>before training</a:t>
            </a:r>
          </a:p>
        </p:txBody>
      </p:sp>
      <p:sp>
        <p:nvSpPr>
          <p:cNvPr id="56" name="Novelty node"/>
          <p:cNvSpPr/>
          <p:nvPr/>
        </p:nvSpPr>
        <p:spPr>
          <a:xfrm>
            <a:off x="6172200" y="2724912"/>
            <a:ext cx="2331720" cy="512064"/>
          </a:xfrm>
          <a:prstGeom prst="roundRect">
            <a:avLst>
              <a:gd name="adj" fmla="val 18000"/>
            </a:avLst>
          </a:prstGeom>
          <a:solidFill>
            <a:srgbClr val="FDE7F1"/>
          </a:solidFill>
          <a:ln w="12700">
            <a:solidFill>
              <a:srgbClr val="E863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Icon bg"/>
          <p:cNvSpPr/>
          <p:nvPr/>
        </p:nvSpPr>
        <p:spPr>
          <a:xfrm>
            <a:off x="6300216" y="2816352"/>
            <a:ext cx="329184" cy="329184"/>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8" name="FaBolt" descr="FaBolt_white.png"/>
          <p:cNvPicPr>
            <a:picLocks noChangeAspect="1"/>
          </p:cNvPicPr>
          <p:nvPr/>
        </p:nvPicPr>
        <p:blipFill>
          <a:blip r:embed="rId8"/>
          <a:stretch>
            <a:fillRect/>
          </a:stretch>
        </p:blipFill>
        <p:spPr>
          <a:xfrm>
            <a:off x="6382512" y="2898648"/>
            <a:ext cx="164592" cy="164592"/>
          </a:xfrm>
          <a:prstGeom prst="rect">
            <a:avLst/>
          </a:prstGeom>
        </p:spPr>
      </p:pic>
      <p:sp>
        <p:nvSpPr>
          <p:cNvPr id="59" name="Novelty text"/>
          <p:cNvSpPr txBox="1"/>
          <p:nvPr/>
        </p:nvSpPr>
        <p:spPr>
          <a:xfrm>
            <a:off x="6702552" y="2761488"/>
            <a:ext cx="1737360" cy="438912"/>
          </a:xfrm>
          <a:prstGeom prst="rect">
            <a:avLst/>
          </a:prstGeom>
          <a:noFill/>
        </p:spPr>
        <p:txBody>
          <a:bodyPr wrap="square" lIns="0" tIns="0" rIns="0" bIns="0" anchor="ctr">
            <a:spAutoFit/>
          </a:bodyPr>
          <a:lstStyle/>
          <a:p>
            <a:pPr algn="l"/>
            <a:r>
              <a:rPr sz="1050" b="1" i="0">
                <a:solidFill>
                  <a:srgbClr val="2E1B5B"/>
                </a:solidFill>
                <a:latin typeface="Calibri"/>
              </a:rPr>
              <a:t>Closed-form kernel:</a:t>
            </a:r>
          </a:p>
          <a:p>
            <a:pPr algn="l"/>
            <a:r>
              <a:rPr sz="1050" b="1" i="0">
                <a:solidFill>
                  <a:srgbClr val="2E1B5B"/>
                </a:solidFill>
                <a:latin typeface="Calibri"/>
              </a:rPr>
              <a:t>O(n), not O(n²)</a:t>
            </a:r>
          </a:p>
        </p:txBody>
      </p:sp>
      <p:sp>
        <p:nvSpPr>
          <p:cNvPr id="60" name="Novelty node"/>
          <p:cNvSpPr/>
          <p:nvPr/>
        </p:nvSpPr>
        <p:spPr>
          <a:xfrm>
            <a:off x="6172200" y="3346704"/>
            <a:ext cx="2331720" cy="512064"/>
          </a:xfrm>
          <a:prstGeom prst="roundRect">
            <a:avLst>
              <a:gd name="adj" fmla="val 18000"/>
            </a:avLst>
          </a:prstGeom>
          <a:solidFill>
            <a:srgbClr val="FDE7F1"/>
          </a:solidFill>
          <a:ln w="12700">
            <a:solidFill>
              <a:srgbClr val="E863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Icon bg"/>
          <p:cNvSpPr/>
          <p:nvPr/>
        </p:nvSpPr>
        <p:spPr>
          <a:xfrm>
            <a:off x="6300216" y="3438144"/>
            <a:ext cx="329184" cy="329184"/>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2" name="FaAtom" descr="FaAtom_white.png"/>
          <p:cNvPicPr>
            <a:picLocks noChangeAspect="1"/>
          </p:cNvPicPr>
          <p:nvPr/>
        </p:nvPicPr>
        <p:blipFill>
          <a:blip r:embed="rId9"/>
          <a:stretch>
            <a:fillRect/>
          </a:stretch>
        </p:blipFill>
        <p:spPr>
          <a:xfrm>
            <a:off x="6382512" y="3520440"/>
            <a:ext cx="164592" cy="164592"/>
          </a:xfrm>
          <a:prstGeom prst="rect">
            <a:avLst/>
          </a:prstGeom>
        </p:spPr>
      </p:pic>
      <p:sp>
        <p:nvSpPr>
          <p:cNvPr id="63" name="Novelty text"/>
          <p:cNvSpPr txBox="1"/>
          <p:nvPr/>
        </p:nvSpPr>
        <p:spPr>
          <a:xfrm>
            <a:off x="6702552" y="3383280"/>
            <a:ext cx="1737360" cy="438912"/>
          </a:xfrm>
          <a:prstGeom prst="rect">
            <a:avLst/>
          </a:prstGeom>
          <a:noFill/>
        </p:spPr>
        <p:txBody>
          <a:bodyPr wrap="square" lIns="0" tIns="0" rIns="0" bIns="0" anchor="ctr">
            <a:spAutoFit/>
          </a:bodyPr>
          <a:lstStyle/>
          <a:p>
            <a:pPr algn="l"/>
            <a:r>
              <a:rPr sz="1050" b="1" i="0">
                <a:solidFill>
                  <a:srgbClr val="2E1B5B"/>
                </a:solidFill>
                <a:latin typeface="Calibri"/>
              </a:rPr>
              <a:t>3 quantum models:</a:t>
            </a:r>
          </a:p>
          <a:p>
            <a:pPr algn="l"/>
            <a:r>
              <a:rPr sz="1050" b="1" i="0">
                <a:solidFill>
                  <a:srgbClr val="2E1B5B"/>
                </a:solidFill>
                <a:latin typeface="Calibri"/>
              </a:rPr>
              <a:t>QSVM · VQC · QNN</a:t>
            </a:r>
          </a:p>
        </p:txBody>
      </p:sp>
      <p:sp>
        <p:nvSpPr>
          <p:cNvPr id="64" name="Novelty node"/>
          <p:cNvSpPr/>
          <p:nvPr/>
        </p:nvSpPr>
        <p:spPr>
          <a:xfrm>
            <a:off x="6172200" y="3968496"/>
            <a:ext cx="2331720" cy="512064"/>
          </a:xfrm>
          <a:prstGeom prst="roundRect">
            <a:avLst>
              <a:gd name="adj" fmla="val 18000"/>
            </a:avLst>
          </a:prstGeom>
          <a:solidFill>
            <a:srgbClr val="FDE7F1"/>
          </a:solidFill>
          <a:ln w="12700">
            <a:solidFill>
              <a:srgbClr val="E863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Icon bg"/>
          <p:cNvSpPr/>
          <p:nvPr/>
        </p:nvSpPr>
        <p:spPr>
          <a:xfrm>
            <a:off x="6300216" y="4059936"/>
            <a:ext cx="329184" cy="329184"/>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6" name="FaBullseye" descr="FaBullseye_white.png"/>
          <p:cNvPicPr>
            <a:picLocks noChangeAspect="1"/>
          </p:cNvPicPr>
          <p:nvPr/>
        </p:nvPicPr>
        <p:blipFill>
          <a:blip r:embed="rId10"/>
          <a:stretch>
            <a:fillRect/>
          </a:stretch>
        </p:blipFill>
        <p:spPr>
          <a:xfrm>
            <a:off x="6382512" y="4142232"/>
            <a:ext cx="164592" cy="164592"/>
          </a:xfrm>
          <a:prstGeom prst="rect">
            <a:avLst/>
          </a:prstGeom>
        </p:spPr>
      </p:pic>
      <p:sp>
        <p:nvSpPr>
          <p:cNvPr id="67" name="Novelty text"/>
          <p:cNvSpPr txBox="1"/>
          <p:nvPr/>
        </p:nvSpPr>
        <p:spPr>
          <a:xfrm>
            <a:off x="6702552" y="4005072"/>
            <a:ext cx="1737360" cy="438912"/>
          </a:xfrm>
          <a:prstGeom prst="rect">
            <a:avLst/>
          </a:prstGeom>
          <a:noFill/>
        </p:spPr>
        <p:txBody>
          <a:bodyPr wrap="square" lIns="0" tIns="0" rIns="0" bIns="0" anchor="ctr">
            <a:spAutoFit/>
          </a:bodyPr>
          <a:lstStyle/>
          <a:p>
            <a:pPr algn="l"/>
            <a:r>
              <a:rPr sz="1050" b="1" i="0">
                <a:solidFill>
                  <a:srgbClr val="2E1B5B"/>
                </a:solidFill>
                <a:latin typeface="Calibri"/>
              </a:rPr>
              <a:t>Conformal abstention</a:t>
            </a:r>
          </a:p>
          <a:p>
            <a:pPr algn="l"/>
            <a:r>
              <a:rPr sz="1050" b="1" i="0">
                <a:solidFill>
                  <a:srgbClr val="2E1B5B"/>
                </a:solidFill>
                <a:latin typeface="Calibri"/>
              </a:rPr>
              <a:t>+ risk bands</a:t>
            </a:r>
          </a:p>
        </p:txBody>
      </p:sp>
      <p:sp>
        <p:nvSpPr>
          <p:cNvPr id="68" name="Centre node"/>
          <p:cNvSpPr/>
          <p:nvPr/>
        </p:nvSpPr>
        <p:spPr>
          <a:xfrm>
            <a:off x="3794760" y="2423160"/>
            <a:ext cx="1554480" cy="1554480"/>
          </a:xfrm>
          <a:prstGeom prst="ellipse">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spcAft>
                <a:spcPts val="200"/>
              </a:spcAft>
            </a:pPr>
            <a:r>
              <a:rPr sz="1200" b="1" i="0">
                <a:solidFill>
                  <a:srgbClr val="FFFFFF"/>
                </a:solidFill>
                <a:latin typeface="Georgia"/>
              </a:rPr>
              <a:t>AAROGYAM</a:t>
            </a:r>
          </a:p>
          <a:p>
            <a:pPr algn="ctr"/>
            <a:r>
              <a:rPr sz="1000" b="1" i="0">
                <a:solidFill>
                  <a:srgbClr val="E8639F"/>
                </a:solidFill>
                <a:latin typeface="Calibri"/>
              </a:rPr>
              <a:t>+ QGene engine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Solution &amp; Quantum Advantage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4</a:t>
            </a:fld>
            <a:endParaRPr lang="en-US"/>
          </a:p>
        </p:txBody>
      </p:sp>
      <p:sp>
        <p:nvSpPr>
          <p:cNvPr id="26" name="Health inputs node"/>
          <p:cNvSpPr/>
          <p:nvPr/>
        </p:nvSpPr>
        <p:spPr>
          <a:xfrm>
            <a:off x="731520" y="2240280"/>
            <a:ext cx="1097280" cy="1097280"/>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Icon bg"/>
          <p:cNvSpPr/>
          <p:nvPr/>
        </p:nvSpPr>
        <p:spPr>
          <a:xfrm>
            <a:off x="1106424" y="2340864"/>
            <a:ext cx="347472" cy="347472"/>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FaUser" descr="FaUser_white.png"/>
          <p:cNvPicPr>
            <a:picLocks noChangeAspect="1"/>
          </p:cNvPicPr>
          <p:nvPr/>
        </p:nvPicPr>
        <p:blipFill>
          <a:blip r:embed="rId3"/>
          <a:stretch>
            <a:fillRect/>
          </a:stretch>
        </p:blipFill>
        <p:spPr>
          <a:xfrm>
            <a:off x="1193292" y="2427732"/>
            <a:ext cx="173736" cy="173736"/>
          </a:xfrm>
          <a:prstGeom prst="rect">
            <a:avLst/>
          </a:prstGeom>
        </p:spPr>
      </p:pic>
      <p:sp>
        <p:nvSpPr>
          <p:cNvPr id="29" name="Health inputs text"/>
          <p:cNvSpPr txBox="1"/>
          <p:nvPr/>
        </p:nvSpPr>
        <p:spPr>
          <a:xfrm>
            <a:off x="777240" y="2743200"/>
            <a:ext cx="1005840" cy="548640"/>
          </a:xfrm>
          <a:prstGeom prst="rect">
            <a:avLst/>
          </a:prstGeom>
          <a:noFill/>
        </p:spPr>
        <p:txBody>
          <a:bodyPr wrap="square" lIns="0" tIns="0" rIns="0" bIns="0" anchor="t">
            <a:spAutoFit/>
          </a:bodyPr>
          <a:lstStyle/>
          <a:p>
            <a:pPr algn="ctr">
              <a:spcAft>
                <a:spcPts val="100"/>
              </a:spcAft>
            </a:pPr>
            <a:r>
              <a:rPr sz="1100" b="1" i="0">
                <a:solidFill>
                  <a:srgbClr val="2E1B5B"/>
                </a:solidFill>
                <a:latin typeface="Calibri"/>
              </a:rPr>
              <a:t>Health inputs</a:t>
            </a:r>
          </a:p>
          <a:p>
            <a:pPr algn="ctr"/>
            <a:r>
              <a:rPr sz="950" b="0" i="0">
                <a:solidFill>
                  <a:srgbClr val="6F7399"/>
                </a:solidFill>
                <a:latin typeface="Calibri"/>
              </a:rPr>
              <a:t>form + review step</a:t>
            </a:r>
          </a:p>
        </p:txBody>
      </p:sp>
      <p:sp>
        <p:nvSpPr>
          <p:cNvPr id="30" name="Pre-process node"/>
          <p:cNvSpPr/>
          <p:nvPr/>
        </p:nvSpPr>
        <p:spPr>
          <a:xfrm>
            <a:off x="2057400" y="2240280"/>
            <a:ext cx="1325880" cy="1097280"/>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Icon bg"/>
          <p:cNvSpPr/>
          <p:nvPr/>
        </p:nvSpPr>
        <p:spPr>
          <a:xfrm>
            <a:off x="2546604" y="2340864"/>
            <a:ext cx="347472" cy="347472"/>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FaCogs" descr="FaCogs_white.png"/>
          <p:cNvPicPr>
            <a:picLocks noChangeAspect="1"/>
          </p:cNvPicPr>
          <p:nvPr/>
        </p:nvPicPr>
        <p:blipFill>
          <a:blip r:embed="rId4"/>
          <a:stretch>
            <a:fillRect/>
          </a:stretch>
        </p:blipFill>
        <p:spPr>
          <a:xfrm>
            <a:off x="2633472" y="2427732"/>
            <a:ext cx="173736" cy="173736"/>
          </a:xfrm>
          <a:prstGeom prst="rect">
            <a:avLst/>
          </a:prstGeom>
        </p:spPr>
      </p:pic>
      <p:sp>
        <p:nvSpPr>
          <p:cNvPr id="33" name="Pre-process text"/>
          <p:cNvSpPr txBox="1"/>
          <p:nvPr/>
        </p:nvSpPr>
        <p:spPr>
          <a:xfrm>
            <a:off x="2103120" y="2743200"/>
            <a:ext cx="1234440" cy="548640"/>
          </a:xfrm>
          <a:prstGeom prst="rect">
            <a:avLst/>
          </a:prstGeom>
          <a:noFill/>
        </p:spPr>
        <p:txBody>
          <a:bodyPr wrap="square" lIns="0" tIns="0" rIns="0" bIns="0" anchor="t">
            <a:spAutoFit/>
          </a:bodyPr>
          <a:lstStyle/>
          <a:p>
            <a:pPr algn="ctr">
              <a:spcAft>
                <a:spcPts val="100"/>
              </a:spcAft>
            </a:pPr>
            <a:r>
              <a:rPr sz="1100" b="1" i="0">
                <a:solidFill>
                  <a:srgbClr val="2E1B5B"/>
                </a:solidFill>
                <a:latin typeface="Calibri"/>
              </a:rPr>
              <a:t>Pre-process</a:t>
            </a:r>
          </a:p>
          <a:p>
            <a:pPr algn="ctr"/>
            <a:r>
              <a:rPr sz="950" b="0" i="0">
                <a:solidFill>
                  <a:srgbClr val="6F7399"/>
                </a:solidFill>
                <a:latin typeface="Calibri"/>
              </a:rPr>
              <a:t>clean · scale · PCA</a:t>
            </a:r>
          </a:p>
        </p:txBody>
      </p:sp>
      <p:sp>
        <p:nvSpPr>
          <p:cNvPr id="34" name="Hybrid ensemble node"/>
          <p:cNvSpPr/>
          <p:nvPr/>
        </p:nvSpPr>
        <p:spPr>
          <a:xfrm>
            <a:off x="5486400" y="2240280"/>
            <a:ext cx="1188720" cy="1097280"/>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Icon bg"/>
          <p:cNvSpPr/>
          <p:nvPr/>
        </p:nvSpPr>
        <p:spPr>
          <a:xfrm>
            <a:off x="5907024" y="2340864"/>
            <a:ext cx="347472" cy="347472"/>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FaLayerGroup" descr="FaLayerGroup_white.png"/>
          <p:cNvPicPr>
            <a:picLocks noChangeAspect="1"/>
          </p:cNvPicPr>
          <p:nvPr/>
        </p:nvPicPr>
        <p:blipFill>
          <a:blip r:embed="rId5"/>
          <a:stretch>
            <a:fillRect/>
          </a:stretch>
        </p:blipFill>
        <p:spPr>
          <a:xfrm>
            <a:off x="5993892" y="2427732"/>
            <a:ext cx="173736" cy="173736"/>
          </a:xfrm>
          <a:prstGeom prst="rect">
            <a:avLst/>
          </a:prstGeom>
        </p:spPr>
      </p:pic>
      <p:sp>
        <p:nvSpPr>
          <p:cNvPr id="37" name="Hybrid ensemble text"/>
          <p:cNvSpPr txBox="1"/>
          <p:nvPr/>
        </p:nvSpPr>
        <p:spPr>
          <a:xfrm>
            <a:off x="5532120" y="2743200"/>
            <a:ext cx="1097280" cy="548640"/>
          </a:xfrm>
          <a:prstGeom prst="rect">
            <a:avLst/>
          </a:prstGeom>
          <a:noFill/>
        </p:spPr>
        <p:txBody>
          <a:bodyPr wrap="square" lIns="0" tIns="0" rIns="0" bIns="0" anchor="t">
            <a:spAutoFit/>
          </a:bodyPr>
          <a:lstStyle/>
          <a:p>
            <a:pPr algn="ctr">
              <a:spcAft>
                <a:spcPts val="100"/>
              </a:spcAft>
            </a:pPr>
            <a:r>
              <a:rPr sz="1100" b="1" i="0">
                <a:solidFill>
                  <a:srgbClr val="2E1B5B"/>
                </a:solidFill>
                <a:latin typeface="Calibri"/>
              </a:rPr>
              <a:t>Hybrid ensemble</a:t>
            </a:r>
          </a:p>
          <a:p>
            <a:pPr algn="ctr"/>
            <a:r>
              <a:rPr sz="950" b="0" i="0">
                <a:solidFill>
                  <a:srgbClr val="6F7399"/>
                </a:solidFill>
                <a:latin typeface="Calibri"/>
              </a:rPr>
              <a:t>auto-weighted</a:t>
            </a:r>
          </a:p>
        </p:txBody>
      </p:sp>
      <p:sp>
        <p:nvSpPr>
          <p:cNvPr id="38" name="Risk band + abstain node"/>
          <p:cNvSpPr/>
          <p:nvPr/>
        </p:nvSpPr>
        <p:spPr>
          <a:xfrm>
            <a:off x="6903720" y="2240280"/>
            <a:ext cx="1463040" cy="1097280"/>
          </a:xfrm>
          <a:prstGeom prst="roundRect">
            <a:avLst>
              <a:gd name="adj" fmla="val 18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Icon bg"/>
          <p:cNvSpPr/>
          <p:nvPr/>
        </p:nvSpPr>
        <p:spPr>
          <a:xfrm>
            <a:off x="7461504" y="2340864"/>
            <a:ext cx="347472" cy="347472"/>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FaHeartbeat" descr="FaHeartbeat_white.png"/>
          <p:cNvPicPr>
            <a:picLocks noChangeAspect="1"/>
          </p:cNvPicPr>
          <p:nvPr/>
        </p:nvPicPr>
        <p:blipFill>
          <a:blip r:embed="rId6"/>
          <a:stretch>
            <a:fillRect/>
          </a:stretch>
        </p:blipFill>
        <p:spPr>
          <a:xfrm>
            <a:off x="7548372" y="2427732"/>
            <a:ext cx="173736" cy="173736"/>
          </a:xfrm>
          <a:prstGeom prst="rect">
            <a:avLst/>
          </a:prstGeom>
        </p:spPr>
      </p:pic>
      <p:sp>
        <p:nvSpPr>
          <p:cNvPr id="41" name="Risk band + abstain text"/>
          <p:cNvSpPr txBox="1"/>
          <p:nvPr/>
        </p:nvSpPr>
        <p:spPr>
          <a:xfrm>
            <a:off x="6949440" y="2743200"/>
            <a:ext cx="1371600" cy="548640"/>
          </a:xfrm>
          <a:prstGeom prst="rect">
            <a:avLst/>
          </a:prstGeom>
          <a:noFill/>
        </p:spPr>
        <p:txBody>
          <a:bodyPr wrap="square" lIns="0" tIns="0" rIns="0" bIns="0" anchor="t">
            <a:spAutoFit/>
          </a:bodyPr>
          <a:lstStyle/>
          <a:p>
            <a:pPr algn="ctr">
              <a:spcAft>
                <a:spcPts val="100"/>
              </a:spcAft>
            </a:pPr>
            <a:r>
              <a:rPr sz="1100" b="1" i="0">
                <a:solidFill>
                  <a:srgbClr val="FFFFFF"/>
                </a:solidFill>
                <a:latin typeface="Calibri"/>
              </a:rPr>
              <a:t>Risk band + abstain</a:t>
            </a:r>
          </a:p>
          <a:p>
            <a:pPr algn="ctr"/>
            <a:r>
              <a:rPr sz="950" b="0" i="0">
                <a:solidFill>
                  <a:srgbClr val="CBD1F5"/>
                </a:solidFill>
                <a:latin typeface="Calibri"/>
              </a:rPr>
              <a:t>plain-language result</a:t>
            </a:r>
          </a:p>
        </p:txBody>
      </p:sp>
      <p:sp>
        <p:nvSpPr>
          <p:cNvPr id="42" name="Classical lane"/>
          <p:cNvSpPr/>
          <p:nvPr/>
        </p:nvSpPr>
        <p:spPr>
          <a:xfrm>
            <a:off x="3611880" y="1965960"/>
            <a:ext cx="1645920" cy="731520"/>
          </a:xfrm>
          <a:prstGeom prst="roundRect">
            <a:avLst>
              <a:gd name="adj" fmla="val 18000"/>
            </a:avLst>
          </a:prstGeom>
          <a:solidFill>
            <a:srgbClr val="FFFFFF"/>
          </a:solidFill>
          <a:ln w="22225">
            <a:solidFill>
              <a:srgbClr val="5B3BA8"/>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spcAft>
                <a:spcPts val="100"/>
              </a:spcAft>
            </a:pPr>
            <a:r>
              <a:rPr sz="900" b="1" i="0">
                <a:solidFill>
                  <a:srgbClr val="5B3BA8"/>
                </a:solidFill>
                <a:latin typeface="Calibri"/>
              </a:rPr>
              <a:t>CLASSICAL</a:t>
            </a:r>
          </a:p>
          <a:p>
            <a:pPr algn="ctr"/>
            <a:r>
              <a:rPr sz="1100" b="1" i="0">
                <a:solidFill>
                  <a:srgbClr val="2E1B5B"/>
                </a:solidFill>
                <a:latin typeface="Calibri"/>
              </a:rPr>
              <a:t>LogReg · RF · SVM</a:t>
            </a:r>
          </a:p>
        </p:txBody>
      </p:sp>
      <p:sp>
        <p:nvSpPr>
          <p:cNvPr id="43" name="Quantum lane"/>
          <p:cNvSpPr/>
          <p:nvPr/>
        </p:nvSpPr>
        <p:spPr>
          <a:xfrm>
            <a:off x="3611880" y="2880360"/>
            <a:ext cx="1645920" cy="731520"/>
          </a:xfrm>
          <a:prstGeom prst="roundRect">
            <a:avLst>
              <a:gd name="adj" fmla="val 18000"/>
            </a:avLst>
          </a:prstGeom>
          <a:solidFill>
            <a:srgbClr val="FFFFFF"/>
          </a:solidFill>
          <a:ln w="22225">
            <a:solidFill>
              <a:srgbClr val="E8639F"/>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spcAft>
                <a:spcPts val="100"/>
              </a:spcAft>
            </a:pPr>
            <a:r>
              <a:rPr sz="900" b="1" i="0">
                <a:solidFill>
                  <a:srgbClr val="E8639F"/>
                </a:solidFill>
                <a:latin typeface="Calibri"/>
              </a:rPr>
              <a:t>QUANTUM</a:t>
            </a:r>
          </a:p>
          <a:p>
            <a:pPr algn="ctr"/>
            <a:r>
              <a:rPr sz="1100" b="1" i="0">
                <a:solidFill>
                  <a:srgbClr val="2E1B5B"/>
                </a:solidFill>
                <a:latin typeface="Calibri"/>
              </a:rPr>
              <a:t>QSVM · VQC · QNN</a:t>
            </a:r>
          </a:p>
        </p:txBody>
      </p:sp>
      <p:cxnSp>
        <p:nvCxnSpPr>
          <p:cNvPr id="44" name="Arrow"/>
          <p:cNvCxnSpPr/>
          <p:nvPr/>
        </p:nvCxnSpPr>
        <p:spPr>
          <a:xfrm>
            <a:off x="1828800" y="2788920"/>
            <a:ext cx="210312" cy="0"/>
          </a:xfrm>
          <a:prstGeom prst="line">
            <a:avLst/>
          </a:prstGeom>
          <a:ln w="22225">
            <a:solidFill>
              <a:srgbClr val="5B3BA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Arrow"/>
          <p:cNvCxnSpPr/>
          <p:nvPr/>
        </p:nvCxnSpPr>
        <p:spPr>
          <a:xfrm flipV="1">
            <a:off x="3383280" y="2377440"/>
            <a:ext cx="210312" cy="365760"/>
          </a:xfrm>
          <a:prstGeom prst="line">
            <a:avLst/>
          </a:prstGeom>
          <a:ln w="22225">
            <a:solidFill>
              <a:srgbClr val="5B3BA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Arrow"/>
          <p:cNvCxnSpPr/>
          <p:nvPr/>
        </p:nvCxnSpPr>
        <p:spPr>
          <a:xfrm>
            <a:off x="3383280" y="2834640"/>
            <a:ext cx="210312" cy="411480"/>
          </a:xfrm>
          <a:prstGeom prst="line">
            <a:avLst/>
          </a:prstGeom>
          <a:ln w="22225">
            <a:solidFill>
              <a:srgbClr val="E8639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Arrow"/>
          <p:cNvCxnSpPr/>
          <p:nvPr/>
        </p:nvCxnSpPr>
        <p:spPr>
          <a:xfrm>
            <a:off x="5257800" y="2377440"/>
            <a:ext cx="210312" cy="301752"/>
          </a:xfrm>
          <a:prstGeom prst="line">
            <a:avLst/>
          </a:prstGeom>
          <a:ln w="22225">
            <a:solidFill>
              <a:srgbClr val="5B3BA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Arrow"/>
          <p:cNvCxnSpPr/>
          <p:nvPr/>
        </p:nvCxnSpPr>
        <p:spPr>
          <a:xfrm flipV="1">
            <a:off x="5257800" y="2898648"/>
            <a:ext cx="210312" cy="347472"/>
          </a:xfrm>
          <a:prstGeom prst="line">
            <a:avLst/>
          </a:prstGeom>
          <a:ln w="22225">
            <a:solidFill>
              <a:srgbClr val="E8639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Arrow"/>
          <p:cNvCxnSpPr/>
          <p:nvPr/>
        </p:nvCxnSpPr>
        <p:spPr>
          <a:xfrm>
            <a:off x="6675120" y="2788920"/>
            <a:ext cx="210312" cy="0"/>
          </a:xfrm>
          <a:prstGeom prst="line">
            <a:avLst/>
          </a:prstGeom>
          <a:ln w="22225">
            <a:solidFill>
              <a:srgbClr val="5B3B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Honesty banner"/>
          <p:cNvSpPr/>
          <p:nvPr/>
        </p:nvSpPr>
        <p:spPr>
          <a:xfrm>
            <a:off x="731520" y="3840480"/>
            <a:ext cx="7635240" cy="658368"/>
          </a:xfrm>
          <a:prstGeom prst="roundRect">
            <a:avLst>
              <a:gd name="adj" fmla="val 18000"/>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Icon bg"/>
          <p:cNvSpPr/>
          <p:nvPr/>
        </p:nvSpPr>
        <p:spPr>
          <a:xfrm>
            <a:off x="905256" y="3977640"/>
            <a:ext cx="384048" cy="384048"/>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 name="FaCheckCircle" descr="FaCheckCircle_white.png"/>
          <p:cNvPicPr>
            <a:picLocks noChangeAspect="1"/>
          </p:cNvPicPr>
          <p:nvPr/>
        </p:nvPicPr>
        <p:blipFill>
          <a:blip r:embed="rId7"/>
          <a:stretch>
            <a:fillRect/>
          </a:stretch>
        </p:blipFill>
        <p:spPr>
          <a:xfrm>
            <a:off x="1001268" y="4073652"/>
            <a:ext cx="192024" cy="192024"/>
          </a:xfrm>
          <a:prstGeom prst="rect">
            <a:avLst/>
          </a:prstGeom>
        </p:spPr>
      </p:pic>
      <p:sp>
        <p:nvSpPr>
          <p:cNvPr id="53" name="Banner text"/>
          <p:cNvSpPr txBox="1"/>
          <p:nvPr/>
        </p:nvSpPr>
        <p:spPr>
          <a:xfrm>
            <a:off x="1417320" y="3895344"/>
            <a:ext cx="6858000" cy="548640"/>
          </a:xfrm>
          <a:prstGeom prst="rect">
            <a:avLst/>
          </a:prstGeom>
          <a:noFill/>
        </p:spPr>
        <p:txBody>
          <a:bodyPr wrap="square" lIns="0" tIns="0" rIns="0" bIns="0" anchor="ctr">
            <a:spAutoFit/>
          </a:bodyPr>
          <a:lstStyle/>
          <a:p>
            <a:pPr algn="l">
              <a:spcAft>
                <a:spcPts val="100"/>
              </a:spcAft>
            </a:pPr>
            <a:r>
              <a:rPr sz="1250" b="1" i="0">
                <a:solidFill>
                  <a:srgbClr val="FFFFFF"/>
                </a:solidFill>
                <a:latin typeface="Calibri"/>
              </a:rPr>
              <a:t>Quantum advantage is tested, not assumed</a:t>
            </a:r>
          </a:p>
          <a:p>
            <a:pPr algn="l"/>
            <a:r>
              <a:rPr sz="1000" b="0" i="0">
                <a:solidFill>
                  <a:srgbClr val="CBD1F5"/>
                </a:solidFill>
                <a:latin typeface="Calibri"/>
              </a:rPr>
              <a:t>Quantum is the best single model on 2 of 5 datasets, heart disease included; the ensemble down-weights it elsewhere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Product Experience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5</a:t>
            </a:fld>
            <a:endParaRPr lang="en-US"/>
          </a:p>
        </p:txBody>
      </p:sp>
      <p:sp>
        <p:nvSpPr>
          <p:cNvPr id="26" name="PATIENT lane label"/>
          <p:cNvSpPr/>
          <p:nvPr/>
        </p:nvSpPr>
        <p:spPr>
          <a:xfrm>
            <a:off x="640080" y="1874520"/>
            <a:ext cx="868680" cy="914400"/>
          </a:xfrm>
          <a:prstGeom prst="roundRect">
            <a:avLst>
              <a:gd name="adj" fmla="val 18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FaUser" descr="FaUser_white.png"/>
          <p:cNvPicPr>
            <a:picLocks noChangeAspect="1"/>
          </p:cNvPicPr>
          <p:nvPr/>
        </p:nvPicPr>
        <p:blipFill>
          <a:blip r:embed="rId3"/>
          <a:stretch>
            <a:fillRect/>
          </a:stretch>
        </p:blipFill>
        <p:spPr>
          <a:xfrm>
            <a:off x="918972" y="2002536"/>
            <a:ext cx="310896" cy="310896"/>
          </a:xfrm>
          <a:prstGeom prst="rect">
            <a:avLst/>
          </a:prstGeom>
        </p:spPr>
      </p:pic>
      <p:sp>
        <p:nvSpPr>
          <p:cNvPr id="28" name="Lane label text"/>
          <p:cNvSpPr txBox="1"/>
          <p:nvPr/>
        </p:nvSpPr>
        <p:spPr>
          <a:xfrm>
            <a:off x="640080" y="2404872"/>
            <a:ext cx="868680" cy="274320"/>
          </a:xfrm>
          <a:prstGeom prst="rect">
            <a:avLst/>
          </a:prstGeom>
          <a:noFill/>
        </p:spPr>
        <p:txBody>
          <a:bodyPr wrap="square" lIns="0" tIns="0" rIns="0" bIns="0" anchor="t">
            <a:spAutoFit/>
          </a:bodyPr>
          <a:lstStyle/>
          <a:p>
            <a:pPr algn="ctr"/>
            <a:r>
              <a:rPr sz="1000" b="1" i="0">
                <a:solidFill>
                  <a:srgbClr val="FFFFFF"/>
                </a:solidFill>
                <a:latin typeface="Calibri"/>
              </a:rPr>
              <a:t>PATIENT</a:t>
            </a:r>
          </a:p>
        </p:txBody>
      </p:sp>
      <p:sp>
        <p:nvSpPr>
          <p:cNvPr id="29" name="PATIENT step 1"/>
          <p:cNvSpPr/>
          <p:nvPr/>
        </p:nvSpPr>
        <p:spPr>
          <a:xfrm>
            <a:off x="1645920" y="1874520"/>
            <a:ext cx="1188720" cy="914400"/>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Icon bg"/>
          <p:cNvSpPr/>
          <p:nvPr/>
        </p:nvSpPr>
        <p:spPr>
          <a:xfrm>
            <a:off x="2084832" y="1956816"/>
            <a:ext cx="310896" cy="310896"/>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aHandPointer" descr="FaHandPointer_white.png"/>
          <p:cNvPicPr>
            <a:picLocks noChangeAspect="1"/>
          </p:cNvPicPr>
          <p:nvPr/>
        </p:nvPicPr>
        <p:blipFill>
          <a:blip r:embed="rId4"/>
          <a:stretch>
            <a:fillRect/>
          </a:stretch>
        </p:blipFill>
        <p:spPr>
          <a:xfrm>
            <a:off x="2162556" y="2034540"/>
            <a:ext cx="155448" cy="155448"/>
          </a:xfrm>
          <a:prstGeom prst="rect">
            <a:avLst/>
          </a:prstGeom>
        </p:spPr>
      </p:pic>
      <p:sp>
        <p:nvSpPr>
          <p:cNvPr id="32" name="Step text"/>
          <p:cNvSpPr txBox="1"/>
          <p:nvPr/>
        </p:nvSpPr>
        <p:spPr>
          <a:xfrm>
            <a:off x="1682496" y="2331720"/>
            <a:ext cx="1115568" cy="438912"/>
          </a:xfrm>
          <a:prstGeom prst="rect">
            <a:avLst/>
          </a:prstGeom>
          <a:noFill/>
        </p:spPr>
        <p:txBody>
          <a:bodyPr wrap="square" lIns="0" tIns="0" rIns="0" bIns="0" anchor="t">
            <a:spAutoFit/>
          </a:bodyPr>
          <a:lstStyle/>
          <a:p>
            <a:pPr algn="ctr"/>
            <a:r>
              <a:rPr sz="1050" b="1" i="0">
                <a:solidFill>
                  <a:srgbClr val="2E1B5B"/>
                </a:solidFill>
                <a:latin typeface="Calibri"/>
              </a:rPr>
              <a:t>Pick a task</a:t>
            </a:r>
          </a:p>
          <a:p>
            <a:pPr algn="ctr"/>
            <a:r>
              <a:rPr sz="900" b="0" i="0">
                <a:solidFill>
                  <a:srgbClr val="6F7399"/>
                </a:solidFill>
                <a:latin typeface="Calibri"/>
              </a:rPr>
              <a:t>heart or diabetes</a:t>
            </a:r>
          </a:p>
        </p:txBody>
      </p:sp>
      <p:cxnSp>
        <p:nvCxnSpPr>
          <p:cNvPr id="33" name="Arrow"/>
          <p:cNvCxnSpPr/>
          <p:nvPr/>
        </p:nvCxnSpPr>
        <p:spPr>
          <a:xfrm>
            <a:off x="2834640" y="2331720"/>
            <a:ext cx="228600" cy="0"/>
          </a:xfrm>
          <a:prstGeom prst="line">
            <a:avLst/>
          </a:prstGeom>
          <a:ln w="19050">
            <a:solidFill>
              <a:srgbClr val="5B3B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PATIENT step 2"/>
          <p:cNvSpPr/>
          <p:nvPr/>
        </p:nvSpPr>
        <p:spPr>
          <a:xfrm>
            <a:off x="3063240" y="1874520"/>
            <a:ext cx="1188720" cy="914400"/>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Icon bg"/>
          <p:cNvSpPr/>
          <p:nvPr/>
        </p:nvSpPr>
        <p:spPr>
          <a:xfrm>
            <a:off x="3502152" y="1956816"/>
            <a:ext cx="310896" cy="310896"/>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FaClipboardList" descr="FaClipboardList_white.png"/>
          <p:cNvPicPr>
            <a:picLocks noChangeAspect="1"/>
          </p:cNvPicPr>
          <p:nvPr/>
        </p:nvPicPr>
        <p:blipFill>
          <a:blip r:embed="rId5"/>
          <a:stretch>
            <a:fillRect/>
          </a:stretch>
        </p:blipFill>
        <p:spPr>
          <a:xfrm>
            <a:off x="3579876" y="2034540"/>
            <a:ext cx="155448" cy="155448"/>
          </a:xfrm>
          <a:prstGeom prst="rect">
            <a:avLst/>
          </a:prstGeom>
        </p:spPr>
      </p:pic>
      <p:sp>
        <p:nvSpPr>
          <p:cNvPr id="37" name="Step text"/>
          <p:cNvSpPr txBox="1"/>
          <p:nvPr/>
        </p:nvSpPr>
        <p:spPr>
          <a:xfrm>
            <a:off x="3099816" y="2331720"/>
            <a:ext cx="1115568" cy="438912"/>
          </a:xfrm>
          <a:prstGeom prst="rect">
            <a:avLst/>
          </a:prstGeom>
          <a:noFill/>
        </p:spPr>
        <p:txBody>
          <a:bodyPr wrap="square" lIns="0" tIns="0" rIns="0" bIns="0" anchor="t">
            <a:spAutoFit/>
          </a:bodyPr>
          <a:lstStyle/>
          <a:p>
            <a:pPr algn="ctr"/>
            <a:r>
              <a:rPr sz="1050" b="1" i="0">
                <a:solidFill>
                  <a:srgbClr val="2E1B5B"/>
                </a:solidFill>
                <a:latin typeface="Calibri"/>
              </a:rPr>
              <a:t>Enter + review</a:t>
            </a:r>
          </a:p>
          <a:p>
            <a:pPr algn="ctr"/>
            <a:r>
              <a:rPr sz="900" b="0" i="0">
                <a:solidFill>
                  <a:srgbClr val="6F7399"/>
                </a:solidFill>
                <a:latin typeface="Calibri"/>
              </a:rPr>
              <a:t>validated form</a:t>
            </a:r>
          </a:p>
        </p:txBody>
      </p:sp>
      <p:cxnSp>
        <p:nvCxnSpPr>
          <p:cNvPr id="38" name="Arrow"/>
          <p:cNvCxnSpPr/>
          <p:nvPr/>
        </p:nvCxnSpPr>
        <p:spPr>
          <a:xfrm>
            <a:off x="4251960" y="2331720"/>
            <a:ext cx="228600" cy="0"/>
          </a:xfrm>
          <a:prstGeom prst="line">
            <a:avLst/>
          </a:prstGeom>
          <a:ln w="19050">
            <a:solidFill>
              <a:srgbClr val="5B3B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PATIENT step 3"/>
          <p:cNvSpPr/>
          <p:nvPr/>
        </p:nvSpPr>
        <p:spPr>
          <a:xfrm>
            <a:off x="4480560" y="1874520"/>
            <a:ext cx="1188720" cy="914400"/>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Icon bg"/>
          <p:cNvSpPr/>
          <p:nvPr/>
        </p:nvSpPr>
        <p:spPr>
          <a:xfrm>
            <a:off x="4919472" y="1956816"/>
            <a:ext cx="310896" cy="310896"/>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FaChartLine" descr="FaChartLine_white.png"/>
          <p:cNvPicPr>
            <a:picLocks noChangeAspect="1"/>
          </p:cNvPicPr>
          <p:nvPr/>
        </p:nvPicPr>
        <p:blipFill>
          <a:blip r:embed="rId6"/>
          <a:stretch>
            <a:fillRect/>
          </a:stretch>
        </p:blipFill>
        <p:spPr>
          <a:xfrm>
            <a:off x="4997196" y="2034540"/>
            <a:ext cx="155448" cy="155448"/>
          </a:xfrm>
          <a:prstGeom prst="rect">
            <a:avLst/>
          </a:prstGeom>
        </p:spPr>
      </p:pic>
      <p:sp>
        <p:nvSpPr>
          <p:cNvPr id="42" name="Step text"/>
          <p:cNvSpPr txBox="1"/>
          <p:nvPr/>
        </p:nvSpPr>
        <p:spPr>
          <a:xfrm>
            <a:off x="4517136" y="2331720"/>
            <a:ext cx="1115568" cy="438912"/>
          </a:xfrm>
          <a:prstGeom prst="rect">
            <a:avLst/>
          </a:prstGeom>
          <a:noFill/>
        </p:spPr>
        <p:txBody>
          <a:bodyPr wrap="square" lIns="0" tIns="0" rIns="0" bIns="0" anchor="t">
            <a:spAutoFit/>
          </a:bodyPr>
          <a:lstStyle/>
          <a:p>
            <a:pPr algn="ctr"/>
            <a:r>
              <a:rPr sz="1050" b="1" i="0">
                <a:solidFill>
                  <a:srgbClr val="2E1B5B"/>
                </a:solidFill>
                <a:latin typeface="Calibri"/>
              </a:rPr>
              <a:t>Get estimate</a:t>
            </a:r>
          </a:p>
          <a:p>
            <a:pPr algn="ctr"/>
            <a:r>
              <a:rPr sz="900" b="0" i="0">
                <a:solidFill>
                  <a:srgbClr val="6F7399"/>
                </a:solidFill>
                <a:latin typeface="Calibri"/>
              </a:rPr>
              <a:t>risk band, labelled</a:t>
            </a:r>
          </a:p>
        </p:txBody>
      </p:sp>
      <p:cxnSp>
        <p:nvCxnSpPr>
          <p:cNvPr id="43" name="Arrow"/>
          <p:cNvCxnSpPr/>
          <p:nvPr/>
        </p:nvCxnSpPr>
        <p:spPr>
          <a:xfrm>
            <a:off x="5669280" y="2331720"/>
            <a:ext cx="228600" cy="0"/>
          </a:xfrm>
          <a:prstGeom prst="line">
            <a:avLst/>
          </a:prstGeom>
          <a:ln w="19050">
            <a:solidFill>
              <a:srgbClr val="5B3B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PATIENT step 4"/>
          <p:cNvSpPr/>
          <p:nvPr/>
        </p:nvSpPr>
        <p:spPr>
          <a:xfrm>
            <a:off x="5897880" y="1874520"/>
            <a:ext cx="1188720" cy="914400"/>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Icon bg"/>
          <p:cNvSpPr/>
          <p:nvPr/>
        </p:nvSpPr>
        <p:spPr>
          <a:xfrm>
            <a:off x="6336792" y="1956816"/>
            <a:ext cx="310896" cy="310896"/>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FaLeaf" descr="FaLeaf_white.png"/>
          <p:cNvPicPr>
            <a:picLocks noChangeAspect="1"/>
          </p:cNvPicPr>
          <p:nvPr/>
        </p:nvPicPr>
        <p:blipFill>
          <a:blip r:embed="rId7"/>
          <a:stretch>
            <a:fillRect/>
          </a:stretch>
        </p:blipFill>
        <p:spPr>
          <a:xfrm>
            <a:off x="6414516" y="2034540"/>
            <a:ext cx="155448" cy="155448"/>
          </a:xfrm>
          <a:prstGeom prst="rect">
            <a:avLst/>
          </a:prstGeom>
        </p:spPr>
      </p:pic>
      <p:sp>
        <p:nvSpPr>
          <p:cNvPr id="47" name="Step text"/>
          <p:cNvSpPr txBox="1"/>
          <p:nvPr/>
        </p:nvSpPr>
        <p:spPr>
          <a:xfrm>
            <a:off x="5934456" y="2331720"/>
            <a:ext cx="1115568" cy="438912"/>
          </a:xfrm>
          <a:prstGeom prst="rect">
            <a:avLst/>
          </a:prstGeom>
          <a:noFill/>
        </p:spPr>
        <p:txBody>
          <a:bodyPr wrap="square" lIns="0" tIns="0" rIns="0" bIns="0" anchor="t">
            <a:spAutoFit/>
          </a:bodyPr>
          <a:lstStyle/>
          <a:p>
            <a:pPr algn="ctr"/>
            <a:r>
              <a:rPr sz="1050" b="1" i="0">
                <a:solidFill>
                  <a:srgbClr val="2E1B5B"/>
                </a:solidFill>
                <a:latin typeface="Calibri"/>
              </a:rPr>
              <a:t>Wellness tips</a:t>
            </a:r>
          </a:p>
          <a:p>
            <a:pPr algn="ctr"/>
            <a:r>
              <a:rPr sz="900" b="0" i="0">
                <a:solidFill>
                  <a:srgbClr val="6F7399"/>
                </a:solidFill>
                <a:latin typeface="Calibri"/>
              </a:rPr>
              <a:t>general, no treatment</a:t>
            </a:r>
          </a:p>
        </p:txBody>
      </p:sp>
      <p:cxnSp>
        <p:nvCxnSpPr>
          <p:cNvPr id="48" name="Arrow"/>
          <p:cNvCxnSpPr/>
          <p:nvPr/>
        </p:nvCxnSpPr>
        <p:spPr>
          <a:xfrm>
            <a:off x="7086600" y="2331720"/>
            <a:ext cx="228600" cy="0"/>
          </a:xfrm>
          <a:prstGeom prst="line">
            <a:avLst/>
          </a:prstGeom>
          <a:ln w="19050">
            <a:solidFill>
              <a:srgbClr val="5B3B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PATIENT step 5"/>
          <p:cNvSpPr/>
          <p:nvPr/>
        </p:nvSpPr>
        <p:spPr>
          <a:xfrm>
            <a:off x="7315200" y="1874520"/>
            <a:ext cx="1188720" cy="914400"/>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Icon bg"/>
          <p:cNvSpPr/>
          <p:nvPr/>
        </p:nvSpPr>
        <p:spPr>
          <a:xfrm>
            <a:off x="7754112" y="1956816"/>
            <a:ext cx="310896" cy="310896"/>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FaQrcode" descr="FaQrcode_white.png"/>
          <p:cNvPicPr>
            <a:picLocks noChangeAspect="1"/>
          </p:cNvPicPr>
          <p:nvPr/>
        </p:nvPicPr>
        <p:blipFill>
          <a:blip r:embed="rId8"/>
          <a:stretch>
            <a:fillRect/>
          </a:stretch>
        </p:blipFill>
        <p:spPr>
          <a:xfrm>
            <a:off x="7831836" y="2034540"/>
            <a:ext cx="155448" cy="155448"/>
          </a:xfrm>
          <a:prstGeom prst="rect">
            <a:avLst/>
          </a:prstGeom>
        </p:spPr>
      </p:pic>
      <p:sp>
        <p:nvSpPr>
          <p:cNvPr id="52" name="Step text"/>
          <p:cNvSpPr txBox="1"/>
          <p:nvPr/>
        </p:nvSpPr>
        <p:spPr>
          <a:xfrm>
            <a:off x="7351776" y="2331720"/>
            <a:ext cx="1115568" cy="438912"/>
          </a:xfrm>
          <a:prstGeom prst="rect">
            <a:avLst/>
          </a:prstGeom>
          <a:noFill/>
        </p:spPr>
        <p:txBody>
          <a:bodyPr wrap="square" lIns="0" tIns="0" rIns="0" bIns="0" anchor="t">
            <a:spAutoFit/>
          </a:bodyPr>
          <a:lstStyle/>
          <a:p>
            <a:pPr algn="ctr"/>
            <a:r>
              <a:rPr sz="1050" b="1" i="0">
                <a:solidFill>
                  <a:srgbClr val="2E1B5B"/>
                </a:solidFill>
                <a:latin typeface="Calibri"/>
              </a:rPr>
              <a:t>Share by QR</a:t>
            </a:r>
          </a:p>
          <a:p>
            <a:pPr algn="ctr"/>
            <a:r>
              <a:rPr sz="900" b="0" i="0">
                <a:solidFill>
                  <a:srgbClr val="6F7399"/>
                </a:solidFill>
                <a:latin typeface="Calibri"/>
              </a:rPr>
              <a:t>opaque token only</a:t>
            </a:r>
          </a:p>
        </p:txBody>
      </p:sp>
      <p:sp>
        <p:nvSpPr>
          <p:cNvPr id="53" name="CLINICIAN lane label"/>
          <p:cNvSpPr/>
          <p:nvPr/>
        </p:nvSpPr>
        <p:spPr>
          <a:xfrm>
            <a:off x="640080" y="2926080"/>
            <a:ext cx="868680" cy="914400"/>
          </a:xfrm>
          <a:prstGeom prst="roundRect">
            <a:avLst>
              <a:gd name="adj" fmla="val 18000"/>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4" name="FaUserMd" descr="FaUserMd_white.png"/>
          <p:cNvPicPr>
            <a:picLocks noChangeAspect="1"/>
          </p:cNvPicPr>
          <p:nvPr/>
        </p:nvPicPr>
        <p:blipFill>
          <a:blip r:embed="rId9"/>
          <a:stretch>
            <a:fillRect/>
          </a:stretch>
        </p:blipFill>
        <p:spPr>
          <a:xfrm>
            <a:off x="918972" y="3054096"/>
            <a:ext cx="310896" cy="310896"/>
          </a:xfrm>
          <a:prstGeom prst="rect">
            <a:avLst/>
          </a:prstGeom>
        </p:spPr>
      </p:pic>
      <p:sp>
        <p:nvSpPr>
          <p:cNvPr id="55" name="Lane label text"/>
          <p:cNvSpPr txBox="1"/>
          <p:nvPr/>
        </p:nvSpPr>
        <p:spPr>
          <a:xfrm>
            <a:off x="640080" y="3456432"/>
            <a:ext cx="868680" cy="274320"/>
          </a:xfrm>
          <a:prstGeom prst="rect">
            <a:avLst/>
          </a:prstGeom>
          <a:noFill/>
        </p:spPr>
        <p:txBody>
          <a:bodyPr wrap="square" lIns="0" tIns="0" rIns="0" bIns="0" anchor="t">
            <a:spAutoFit/>
          </a:bodyPr>
          <a:lstStyle/>
          <a:p>
            <a:pPr algn="ctr"/>
            <a:r>
              <a:rPr sz="1000" b="1" i="0">
                <a:solidFill>
                  <a:srgbClr val="FFFFFF"/>
                </a:solidFill>
                <a:latin typeface="Calibri"/>
              </a:rPr>
              <a:t>CLINICIAN</a:t>
            </a:r>
          </a:p>
        </p:txBody>
      </p:sp>
      <p:sp>
        <p:nvSpPr>
          <p:cNvPr id="56" name="CLINICIAN step 1"/>
          <p:cNvSpPr/>
          <p:nvPr/>
        </p:nvSpPr>
        <p:spPr>
          <a:xfrm>
            <a:off x="1645920" y="2926080"/>
            <a:ext cx="1188720" cy="914400"/>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Icon bg"/>
          <p:cNvSpPr/>
          <p:nvPr/>
        </p:nvSpPr>
        <p:spPr>
          <a:xfrm>
            <a:off x="2084832" y="3008376"/>
            <a:ext cx="310896" cy="310896"/>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8" name="FaFileMedical" descr="FaFileMedical_white.png"/>
          <p:cNvPicPr>
            <a:picLocks noChangeAspect="1"/>
          </p:cNvPicPr>
          <p:nvPr/>
        </p:nvPicPr>
        <p:blipFill>
          <a:blip r:embed="rId10"/>
          <a:stretch>
            <a:fillRect/>
          </a:stretch>
        </p:blipFill>
        <p:spPr>
          <a:xfrm>
            <a:off x="2162556" y="3086100"/>
            <a:ext cx="155448" cy="155448"/>
          </a:xfrm>
          <a:prstGeom prst="rect">
            <a:avLst/>
          </a:prstGeom>
        </p:spPr>
      </p:pic>
      <p:sp>
        <p:nvSpPr>
          <p:cNvPr id="59" name="Step text"/>
          <p:cNvSpPr txBox="1"/>
          <p:nvPr/>
        </p:nvSpPr>
        <p:spPr>
          <a:xfrm>
            <a:off x="1682496" y="3383280"/>
            <a:ext cx="1115568" cy="438912"/>
          </a:xfrm>
          <a:prstGeom prst="rect">
            <a:avLst/>
          </a:prstGeom>
          <a:noFill/>
        </p:spPr>
        <p:txBody>
          <a:bodyPr wrap="square" lIns="0" tIns="0" rIns="0" bIns="0" anchor="t">
            <a:spAutoFit/>
          </a:bodyPr>
          <a:lstStyle/>
          <a:p>
            <a:pPr algn="ctr"/>
            <a:r>
              <a:rPr sz="1050" b="1" i="0">
                <a:solidFill>
                  <a:srgbClr val="2E1B5B"/>
                </a:solidFill>
                <a:latin typeface="Calibri"/>
              </a:rPr>
              <a:t>Open record</a:t>
            </a:r>
          </a:p>
          <a:p>
            <a:pPr algn="ctr"/>
            <a:r>
              <a:rPr sz="900" b="0" i="0">
                <a:solidFill>
                  <a:srgbClr val="6F7399"/>
                </a:solidFill>
                <a:latin typeface="Calibri"/>
              </a:rPr>
              <a:t>synthetic demo data</a:t>
            </a:r>
          </a:p>
        </p:txBody>
      </p:sp>
      <p:cxnSp>
        <p:nvCxnSpPr>
          <p:cNvPr id="60" name="Arrow"/>
          <p:cNvCxnSpPr/>
          <p:nvPr/>
        </p:nvCxnSpPr>
        <p:spPr>
          <a:xfrm>
            <a:off x="2834640" y="3383280"/>
            <a:ext cx="228600" cy="0"/>
          </a:xfrm>
          <a:prstGeom prst="line">
            <a:avLst/>
          </a:prstGeom>
          <a:ln w="19050">
            <a:solidFill>
              <a:srgbClr val="E8639F"/>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CLINICIAN step 2"/>
          <p:cNvSpPr/>
          <p:nvPr/>
        </p:nvSpPr>
        <p:spPr>
          <a:xfrm>
            <a:off x="3063240" y="2926080"/>
            <a:ext cx="1188720" cy="914400"/>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Icon bg"/>
          <p:cNvSpPr/>
          <p:nvPr/>
        </p:nvSpPr>
        <p:spPr>
          <a:xfrm>
            <a:off x="3502152" y="3008376"/>
            <a:ext cx="310896" cy="310896"/>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3" name="FaEye" descr="FaEye_white.png"/>
          <p:cNvPicPr>
            <a:picLocks noChangeAspect="1"/>
          </p:cNvPicPr>
          <p:nvPr/>
        </p:nvPicPr>
        <p:blipFill>
          <a:blip r:embed="rId11"/>
          <a:stretch>
            <a:fillRect/>
          </a:stretch>
        </p:blipFill>
        <p:spPr>
          <a:xfrm>
            <a:off x="3579876" y="3086100"/>
            <a:ext cx="155448" cy="155448"/>
          </a:xfrm>
          <a:prstGeom prst="rect">
            <a:avLst/>
          </a:prstGeom>
        </p:spPr>
      </p:pic>
      <p:sp>
        <p:nvSpPr>
          <p:cNvPr id="64" name="Step text"/>
          <p:cNvSpPr txBox="1"/>
          <p:nvPr/>
        </p:nvSpPr>
        <p:spPr>
          <a:xfrm>
            <a:off x="3099816" y="3383280"/>
            <a:ext cx="1115568" cy="438912"/>
          </a:xfrm>
          <a:prstGeom prst="rect">
            <a:avLst/>
          </a:prstGeom>
          <a:noFill/>
        </p:spPr>
        <p:txBody>
          <a:bodyPr wrap="square" lIns="0" tIns="0" rIns="0" bIns="0" anchor="t">
            <a:spAutoFit/>
          </a:bodyPr>
          <a:lstStyle/>
          <a:p>
            <a:pPr algn="ctr"/>
            <a:r>
              <a:rPr sz="1050" b="1" i="0">
                <a:solidFill>
                  <a:srgbClr val="2E1B5B"/>
                </a:solidFill>
                <a:latin typeface="Calibri"/>
              </a:rPr>
              <a:t>Review inputs</a:t>
            </a:r>
          </a:p>
          <a:p>
            <a:pPr algn="ctr"/>
            <a:r>
              <a:rPr sz="900" b="0" i="0">
                <a:solidFill>
                  <a:srgbClr val="6F7399"/>
                </a:solidFill>
                <a:latin typeface="Calibri"/>
              </a:rPr>
              <a:t>and model result</a:t>
            </a:r>
          </a:p>
        </p:txBody>
      </p:sp>
      <p:cxnSp>
        <p:nvCxnSpPr>
          <p:cNvPr id="65" name="Arrow"/>
          <p:cNvCxnSpPr/>
          <p:nvPr/>
        </p:nvCxnSpPr>
        <p:spPr>
          <a:xfrm>
            <a:off x="4251960" y="3383280"/>
            <a:ext cx="228600" cy="0"/>
          </a:xfrm>
          <a:prstGeom prst="line">
            <a:avLst/>
          </a:prstGeom>
          <a:ln w="19050">
            <a:solidFill>
              <a:srgbClr val="E8639F"/>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CLINICIAN step 3"/>
          <p:cNvSpPr/>
          <p:nvPr/>
        </p:nvSpPr>
        <p:spPr>
          <a:xfrm>
            <a:off x="4480560" y="2926080"/>
            <a:ext cx="1188720" cy="914400"/>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Icon bg"/>
          <p:cNvSpPr/>
          <p:nvPr/>
        </p:nvSpPr>
        <p:spPr>
          <a:xfrm>
            <a:off x="4919472" y="3008376"/>
            <a:ext cx="310896" cy="310896"/>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8" name="FaBalanceScale" descr="FaBalanceScale_white.png"/>
          <p:cNvPicPr>
            <a:picLocks noChangeAspect="1"/>
          </p:cNvPicPr>
          <p:nvPr/>
        </p:nvPicPr>
        <p:blipFill>
          <a:blip r:embed="rId12"/>
          <a:stretch>
            <a:fillRect/>
          </a:stretch>
        </p:blipFill>
        <p:spPr>
          <a:xfrm>
            <a:off x="4997196" y="3086100"/>
            <a:ext cx="155448" cy="155448"/>
          </a:xfrm>
          <a:prstGeom prst="rect">
            <a:avLst/>
          </a:prstGeom>
        </p:spPr>
      </p:pic>
      <p:sp>
        <p:nvSpPr>
          <p:cNvPr id="69" name="Step text"/>
          <p:cNvSpPr txBox="1"/>
          <p:nvPr/>
        </p:nvSpPr>
        <p:spPr>
          <a:xfrm>
            <a:off x="4517136" y="3383280"/>
            <a:ext cx="1115568" cy="438912"/>
          </a:xfrm>
          <a:prstGeom prst="rect">
            <a:avLst/>
          </a:prstGeom>
          <a:noFill/>
        </p:spPr>
        <p:txBody>
          <a:bodyPr wrap="square" lIns="0" tIns="0" rIns="0" bIns="0" anchor="t">
            <a:spAutoFit/>
          </a:bodyPr>
          <a:lstStyle/>
          <a:p>
            <a:pPr algn="ctr"/>
            <a:r>
              <a:rPr sz="1050" b="1" i="0">
                <a:solidFill>
                  <a:srgbClr val="2E1B5B"/>
                </a:solidFill>
                <a:latin typeface="Calibri"/>
              </a:rPr>
              <a:t>See the limits</a:t>
            </a:r>
          </a:p>
          <a:p>
            <a:pPr algn="ctr"/>
            <a:r>
              <a:rPr sz="900" b="0" i="0">
                <a:solidFill>
                  <a:srgbClr val="6F7399"/>
                </a:solidFill>
                <a:latin typeface="Calibri"/>
              </a:rPr>
              <a:t>metrics + caveats</a:t>
            </a:r>
          </a:p>
        </p:txBody>
      </p:sp>
      <p:cxnSp>
        <p:nvCxnSpPr>
          <p:cNvPr id="70" name="Arrow"/>
          <p:cNvCxnSpPr/>
          <p:nvPr/>
        </p:nvCxnSpPr>
        <p:spPr>
          <a:xfrm>
            <a:off x="5669280" y="3383280"/>
            <a:ext cx="228600" cy="0"/>
          </a:xfrm>
          <a:prstGeom prst="line">
            <a:avLst/>
          </a:prstGeom>
          <a:ln w="19050">
            <a:solidFill>
              <a:srgbClr val="E8639F"/>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CLINICIAN step 4"/>
          <p:cNvSpPr/>
          <p:nvPr/>
        </p:nvSpPr>
        <p:spPr>
          <a:xfrm>
            <a:off x="5897880" y="2926080"/>
            <a:ext cx="1188720" cy="914400"/>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Icon bg"/>
          <p:cNvSpPr/>
          <p:nvPr/>
        </p:nvSpPr>
        <p:spPr>
          <a:xfrm>
            <a:off x="6336792" y="3008376"/>
            <a:ext cx="310896" cy="310896"/>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3" name="FaLock" descr="FaLock_white.png"/>
          <p:cNvPicPr>
            <a:picLocks noChangeAspect="1"/>
          </p:cNvPicPr>
          <p:nvPr/>
        </p:nvPicPr>
        <p:blipFill>
          <a:blip r:embed="rId13"/>
          <a:stretch>
            <a:fillRect/>
          </a:stretch>
        </p:blipFill>
        <p:spPr>
          <a:xfrm>
            <a:off x="6414516" y="3086100"/>
            <a:ext cx="155448" cy="155448"/>
          </a:xfrm>
          <a:prstGeom prst="rect">
            <a:avLst/>
          </a:prstGeom>
        </p:spPr>
      </p:pic>
      <p:sp>
        <p:nvSpPr>
          <p:cNvPr id="74" name="Step text"/>
          <p:cNvSpPr txBox="1"/>
          <p:nvPr/>
        </p:nvSpPr>
        <p:spPr>
          <a:xfrm>
            <a:off x="5934456" y="3383280"/>
            <a:ext cx="1115568" cy="438912"/>
          </a:xfrm>
          <a:prstGeom prst="rect">
            <a:avLst/>
          </a:prstGeom>
          <a:noFill/>
        </p:spPr>
        <p:txBody>
          <a:bodyPr wrap="square" lIns="0" tIns="0" rIns="0" bIns="0" anchor="t">
            <a:spAutoFit/>
          </a:bodyPr>
          <a:lstStyle/>
          <a:p>
            <a:pPr algn="ctr"/>
            <a:r>
              <a:rPr sz="1050" b="1" i="0">
                <a:solidFill>
                  <a:srgbClr val="2E1B5B"/>
                </a:solidFill>
                <a:latin typeface="Calibri"/>
              </a:rPr>
              <a:t>Scan QR</a:t>
            </a:r>
          </a:p>
          <a:p>
            <a:pPr algn="ctr"/>
            <a:r>
              <a:rPr sz="900" b="0" i="0">
                <a:solidFill>
                  <a:srgbClr val="6F7399"/>
                </a:solidFill>
                <a:latin typeface="Calibri"/>
              </a:rPr>
              <a:t>consent required</a:t>
            </a:r>
          </a:p>
        </p:txBody>
      </p:sp>
      <p:cxnSp>
        <p:nvCxnSpPr>
          <p:cNvPr id="75" name="Arrow"/>
          <p:cNvCxnSpPr/>
          <p:nvPr/>
        </p:nvCxnSpPr>
        <p:spPr>
          <a:xfrm>
            <a:off x="7086600" y="3383280"/>
            <a:ext cx="228600" cy="0"/>
          </a:xfrm>
          <a:prstGeom prst="line">
            <a:avLst/>
          </a:prstGeom>
          <a:ln w="19050">
            <a:solidFill>
              <a:srgbClr val="E8639F"/>
            </a:solidFill>
            <a:tailEnd type="triangle" w="med" len="med"/>
          </a:ln>
        </p:spPr>
        <p:style>
          <a:lnRef idx="2">
            <a:schemeClr val="accent1"/>
          </a:lnRef>
          <a:fillRef idx="0">
            <a:schemeClr val="accent1"/>
          </a:fillRef>
          <a:effectRef idx="1">
            <a:schemeClr val="accent1"/>
          </a:effectRef>
          <a:fontRef idx="minor">
            <a:schemeClr val="tx1"/>
          </a:fontRef>
        </p:style>
      </p:cxnSp>
      <p:sp>
        <p:nvSpPr>
          <p:cNvPr id="76" name="CLINICIAN step 5"/>
          <p:cNvSpPr/>
          <p:nvPr/>
        </p:nvSpPr>
        <p:spPr>
          <a:xfrm>
            <a:off x="7315200" y="2926080"/>
            <a:ext cx="1188720" cy="914400"/>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Icon bg"/>
          <p:cNvSpPr/>
          <p:nvPr/>
        </p:nvSpPr>
        <p:spPr>
          <a:xfrm>
            <a:off x="7754112" y="3008376"/>
            <a:ext cx="310896" cy="310896"/>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8" name="FaStethoscope" descr="FaStethoscope_white.png"/>
          <p:cNvPicPr>
            <a:picLocks noChangeAspect="1"/>
          </p:cNvPicPr>
          <p:nvPr/>
        </p:nvPicPr>
        <p:blipFill>
          <a:blip r:embed="rId14"/>
          <a:stretch>
            <a:fillRect/>
          </a:stretch>
        </p:blipFill>
        <p:spPr>
          <a:xfrm>
            <a:off x="7831836" y="3086100"/>
            <a:ext cx="155448" cy="155448"/>
          </a:xfrm>
          <a:prstGeom prst="rect">
            <a:avLst/>
          </a:prstGeom>
        </p:spPr>
      </p:pic>
      <p:sp>
        <p:nvSpPr>
          <p:cNvPr id="79" name="Step text"/>
          <p:cNvSpPr txBox="1"/>
          <p:nvPr/>
        </p:nvSpPr>
        <p:spPr>
          <a:xfrm>
            <a:off x="7351776" y="3383280"/>
            <a:ext cx="1115568" cy="438912"/>
          </a:xfrm>
          <a:prstGeom prst="rect">
            <a:avLst/>
          </a:prstGeom>
          <a:noFill/>
        </p:spPr>
        <p:txBody>
          <a:bodyPr wrap="square" lIns="0" tIns="0" rIns="0" bIns="0" anchor="t">
            <a:spAutoFit/>
          </a:bodyPr>
          <a:lstStyle/>
          <a:p>
            <a:pPr algn="ctr"/>
            <a:r>
              <a:rPr sz="1050" b="1" i="0">
                <a:solidFill>
                  <a:srgbClr val="2E1B5B"/>
                </a:solidFill>
                <a:latin typeface="Calibri"/>
              </a:rPr>
              <a:t>Discuss</a:t>
            </a:r>
          </a:p>
          <a:p>
            <a:pPr algn="ctr"/>
            <a:r>
              <a:rPr sz="900" b="0" i="0">
                <a:solidFill>
                  <a:srgbClr val="6F7399"/>
                </a:solidFill>
                <a:latin typeface="Calibri"/>
              </a:rPr>
              <a:t>aid only, no diagnosis</a:t>
            </a:r>
          </a:p>
        </p:txBody>
      </p:sp>
      <p:sp>
        <p:nvSpPr>
          <p:cNvPr id="80" name="Safety badge"/>
          <p:cNvSpPr/>
          <p:nvPr/>
        </p:nvSpPr>
        <p:spPr>
          <a:xfrm>
            <a:off x="640080" y="4050792"/>
            <a:ext cx="1188720" cy="329184"/>
          </a:xfrm>
          <a:prstGeom prst="roundRect">
            <a:avLst>
              <a:gd name="adj" fmla="val 50000"/>
            </a:avLst>
          </a:prstGeom>
          <a:solidFill>
            <a:srgbClr val="E9E3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r>
              <a:rPr sz="950" b="1" i="0">
                <a:solidFill>
                  <a:srgbClr val="5B3BA8"/>
                </a:solidFill>
                <a:latin typeface="Calibri"/>
              </a:rPr>
              <a:t>DEMO DATA</a:t>
            </a:r>
          </a:p>
        </p:txBody>
      </p:sp>
      <p:sp>
        <p:nvSpPr>
          <p:cNvPr id="81" name="Safety badge"/>
          <p:cNvSpPr/>
          <p:nvPr/>
        </p:nvSpPr>
        <p:spPr>
          <a:xfrm>
            <a:off x="1938528" y="4050792"/>
            <a:ext cx="1691640" cy="329184"/>
          </a:xfrm>
          <a:prstGeom prst="roundRect">
            <a:avLst>
              <a:gd name="adj" fmla="val 50000"/>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r>
              <a:rPr sz="950" b="1" i="0">
                <a:solidFill>
                  <a:srgbClr val="FFFFFF"/>
                </a:solidFill>
                <a:latin typeface="Calibri"/>
              </a:rPr>
              <a:t>EXPERIMENTAL RESULT</a:t>
            </a:r>
          </a:p>
        </p:txBody>
      </p:sp>
      <p:sp>
        <p:nvSpPr>
          <p:cNvPr id="82" name="Safety badge"/>
          <p:cNvSpPr/>
          <p:nvPr/>
        </p:nvSpPr>
        <p:spPr>
          <a:xfrm>
            <a:off x="3739896" y="4050792"/>
            <a:ext cx="1417320" cy="329184"/>
          </a:xfrm>
          <a:prstGeom prst="roundRect">
            <a:avLst>
              <a:gd name="adj" fmla="val 50000"/>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r>
              <a:rPr sz="950" b="1" i="0">
                <a:solidFill>
                  <a:srgbClr val="FFFFFF"/>
                </a:solidFill>
                <a:latin typeface="Calibri"/>
              </a:rPr>
              <a:t>NOT A DIAGNOSIS</a:t>
            </a:r>
          </a:p>
        </p:txBody>
      </p:sp>
      <p:sp>
        <p:nvSpPr>
          <p:cNvPr id="83" name="Dialer chip"/>
          <p:cNvSpPr/>
          <p:nvPr/>
        </p:nvSpPr>
        <p:spPr>
          <a:xfrm>
            <a:off x="5486400" y="4023360"/>
            <a:ext cx="3017520" cy="384048"/>
          </a:xfrm>
          <a:prstGeom prst="roundRect">
            <a:avLst>
              <a:gd name="adj" fmla="val 50000"/>
            </a:avLst>
          </a:prstGeom>
          <a:solidFill>
            <a:srgbClr val="FFFFFF"/>
          </a:solidFill>
          <a:ln w="15875">
            <a:solidFill>
              <a:srgbClr val="E863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Icon bg"/>
          <p:cNvSpPr/>
          <p:nvPr/>
        </p:nvSpPr>
        <p:spPr>
          <a:xfrm>
            <a:off x="5596128" y="4078224"/>
            <a:ext cx="274320" cy="274320"/>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5" name="FaPhoneAlt" descr="FaPhoneAlt_white.png"/>
          <p:cNvPicPr>
            <a:picLocks noChangeAspect="1"/>
          </p:cNvPicPr>
          <p:nvPr/>
        </p:nvPicPr>
        <p:blipFill>
          <a:blip r:embed="rId15"/>
          <a:stretch>
            <a:fillRect/>
          </a:stretch>
        </p:blipFill>
        <p:spPr>
          <a:xfrm>
            <a:off x="5664708" y="4146804"/>
            <a:ext cx="137160" cy="137160"/>
          </a:xfrm>
          <a:prstGeom prst="rect">
            <a:avLst/>
          </a:prstGeom>
        </p:spPr>
      </p:pic>
      <p:sp>
        <p:nvSpPr>
          <p:cNvPr id="86" name="Dialer text"/>
          <p:cNvSpPr txBox="1"/>
          <p:nvPr/>
        </p:nvSpPr>
        <p:spPr>
          <a:xfrm>
            <a:off x="5943600" y="4023360"/>
            <a:ext cx="2514600" cy="384048"/>
          </a:xfrm>
          <a:prstGeom prst="rect">
            <a:avLst/>
          </a:prstGeom>
          <a:noFill/>
        </p:spPr>
        <p:txBody>
          <a:bodyPr wrap="square" lIns="0" tIns="0" rIns="0" bIns="0" anchor="ctr">
            <a:spAutoFit/>
          </a:bodyPr>
          <a:lstStyle/>
          <a:p>
            <a:pPr algn="l"/>
            <a:r>
              <a:rPr sz="1000" b="1" i="0">
                <a:solidFill>
                  <a:srgbClr val="2E1B5B"/>
                </a:solidFill>
                <a:latin typeface="Calibri"/>
              </a:rPr>
              <a:t>Emergency dialer: </a:t>
            </a:r>
            <a:r>
              <a:rPr sz="1000" b="0" i="0">
                <a:solidFill>
                  <a:srgbClr val="2E1B5B"/>
                </a:solidFill>
                <a:latin typeface="Calibri"/>
              </a:rPr>
              <a:t>opens phone, you confirm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Algorithm &amp; Circuit Design</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8" name="Content card"/>
          <p:cNvSpPr/>
          <p:nvPr/>
        </p:nvSpPr>
        <p:spPr>
          <a:xfrm>
            <a:off x="5577840" y="1691640"/>
            <a:ext cx="3108960" cy="2926080"/>
          </a:xfrm>
          <a:prstGeom prst="roundRect">
            <a:avLst>
              <a:gd name="adj" fmla="val 2500"/>
            </a:avLst>
          </a:prstGeom>
          <a:solidFill>
            <a:srgbClr val="FFFFFF"/>
          </a:solidFill>
          <a:ln w="9525">
            <a:solidFill>
              <a:srgbClr val="B8BDEB"/>
            </a:solidFill>
            <a:prstDash val="solid"/>
          </a:ln>
        </p:spPr>
      </p:sp>
      <p:sp>
        <p:nvSpPr>
          <p:cNvPr id="9" name="Card accent"/>
          <p:cNvSpPr/>
          <p:nvPr/>
        </p:nvSpPr>
        <p:spPr>
          <a:xfrm>
            <a:off x="5806440" y="1691640"/>
            <a:ext cx="822960" cy="54864"/>
          </a:xfrm>
          <a:prstGeom prst="rect">
            <a:avLst/>
          </a:prstGeom>
          <a:solidFill>
            <a:srgbClr val="7C93F0"/>
          </a:solidFill>
          <a:ln w="12700">
            <a:solidFill>
              <a:srgbClr val="7C93F0"/>
            </a:solidFill>
            <a:prstDash val="solid"/>
          </a:ln>
        </p:spPr>
      </p:sp>
      <p:sp>
        <p:nvSpPr>
          <p:cNvPr id="10" name="Text 8"/>
          <p:cNvSpPr txBox="1"/>
          <p:nvPr/>
        </p:nvSpPr>
        <p:spPr>
          <a:xfrm>
            <a:off x="5760720" y="1874520"/>
            <a:ext cx="3200400" cy="274320"/>
          </a:xfrm>
          <a:prstGeom prst="rect">
            <a:avLst/>
          </a:prstGeom>
          <a:noFill/>
          <a:ln/>
        </p:spPr>
        <p:txBody>
          <a:bodyPr wrap="square" lIns="0" tIns="0" rIns="0" bIns="0" rtlCol="0" anchor="t"/>
          <a:lstStyle/>
          <a:p>
            <a:pPr marL="0" indent="0">
              <a:buNone/>
            </a:pPr>
            <a:r>
              <a:rPr lang="en-US" sz="1200" b="1" i="0" dirty="0">
                <a:solidFill>
                  <a:srgbClr val="2E1B5B"/>
                </a:solidFill>
                <a:latin typeface="Calibri" pitchFamily="34" charset="0"/>
                <a:ea typeface="Calibri" pitchFamily="34" charset="-122"/>
                <a:cs typeface="Calibri" pitchFamily="34" charset="-120"/>
              </a:rPr>
              <a:t>Hybrid pipeline</a:t>
            </a: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6</a:t>
            </a:fld>
            <a:endParaRPr lang="en-US"/>
          </a:p>
        </p:txBody>
      </p:sp>
      <p:sp>
        <p:nvSpPr>
          <p:cNvPr id="26" name="Circuit panel"/>
          <p:cNvSpPr/>
          <p:nvPr/>
        </p:nvSpPr>
        <p:spPr>
          <a:xfrm>
            <a:off x="457200" y="1691640"/>
            <a:ext cx="4937760" cy="2926080"/>
          </a:xfrm>
          <a:prstGeom prst="roundRect">
            <a:avLst>
              <a:gd name="adj" fmla="val 25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7" name="Card accent"/>
          <p:cNvSpPr/>
          <p:nvPr/>
        </p:nvSpPr>
        <p:spPr>
          <a:xfrm>
            <a:off x="685800" y="1691640"/>
            <a:ext cx="822960" cy="54864"/>
          </a:xfrm>
          <a:prstGeom prst="rect">
            <a:avLst/>
          </a:prstGeom>
          <a:solidFill>
            <a:srgbClr val="7C9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Formula strip"/>
          <p:cNvSpPr/>
          <p:nvPr/>
        </p:nvSpPr>
        <p:spPr>
          <a:xfrm>
            <a:off x="640080" y="4005072"/>
            <a:ext cx="4572000" cy="493776"/>
          </a:xfrm>
          <a:prstGeom prst="roundRect">
            <a:avLst>
              <a:gd name="adj" fmla="val 18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Kernel formula"/>
          <p:cNvSpPr txBox="1"/>
          <p:nvPr/>
        </p:nvSpPr>
        <p:spPr>
          <a:xfrm>
            <a:off x="731520" y="4005072"/>
            <a:ext cx="2743200" cy="493776"/>
          </a:xfrm>
          <a:prstGeom prst="rect">
            <a:avLst/>
          </a:prstGeom>
          <a:noFill/>
        </p:spPr>
        <p:txBody>
          <a:bodyPr wrap="square" lIns="0" tIns="0" rIns="0" bIns="0" anchor="ctr">
            <a:spAutoFit/>
          </a:bodyPr>
          <a:lstStyle/>
          <a:p>
            <a:pPr algn="l"/>
            <a:r>
              <a:rPr sz="1400" b="1" i="1">
                <a:solidFill>
                  <a:srgbClr val="2E1B5B"/>
                </a:solidFill>
                <a:latin typeface="Georgia"/>
              </a:rPr>
              <a:t>K(x, y) = |⟨φ(x) | φ(y)⟩|²</a:t>
            </a:r>
          </a:p>
        </p:txBody>
      </p:sp>
      <p:sp>
        <p:nvSpPr>
          <p:cNvPr id="69" name="Formula note"/>
          <p:cNvSpPr txBox="1"/>
          <p:nvPr/>
        </p:nvSpPr>
        <p:spPr>
          <a:xfrm>
            <a:off x="3170663" y="4159627"/>
            <a:ext cx="1981943" cy="184666"/>
          </a:xfrm>
          <a:prstGeom prst="rect">
            <a:avLst/>
          </a:prstGeom>
          <a:noFill/>
        </p:spPr>
        <p:txBody>
          <a:bodyPr wrap="square" lIns="0" tIns="0" rIns="0" bIns="0" anchor="ctr">
            <a:spAutoFit/>
          </a:bodyPr>
          <a:lstStyle/>
          <a:p>
            <a:pPr algn="r"/>
            <a:r>
              <a:rPr sz="1200" b="0" i="0" dirty="0">
                <a:solidFill>
                  <a:srgbClr val="6F7399"/>
                </a:solidFill>
                <a:latin typeface="Calibri"/>
              </a:rPr>
              <a:t>fidelity between encoded states</a:t>
            </a:r>
          </a:p>
        </p:txBody>
      </p:sp>
      <p:sp>
        <p:nvSpPr>
          <p:cNvPr id="70" name="Pipeline step"/>
          <p:cNvSpPr/>
          <p:nvPr/>
        </p:nvSpPr>
        <p:spPr>
          <a:xfrm>
            <a:off x="5760720" y="2212848"/>
            <a:ext cx="2743200" cy="292608"/>
          </a:xfrm>
          <a:prstGeom prst="roundRect">
            <a:avLst>
              <a:gd name="adj" fmla="val 5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Step number"/>
          <p:cNvSpPr/>
          <p:nvPr/>
        </p:nvSpPr>
        <p:spPr>
          <a:xfrm>
            <a:off x="5797296" y="2249424"/>
            <a:ext cx="219456" cy="219456"/>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FFFFFF"/>
                </a:solidFill>
                <a:latin typeface="Calibri"/>
              </a:rPr>
              <a:t>1</a:t>
            </a:r>
          </a:p>
        </p:txBody>
      </p:sp>
      <p:sp>
        <p:nvSpPr>
          <p:cNvPr id="72" name="Step text"/>
          <p:cNvSpPr txBox="1"/>
          <p:nvPr/>
        </p:nvSpPr>
        <p:spPr>
          <a:xfrm>
            <a:off x="6108192" y="2212848"/>
            <a:ext cx="2331720" cy="292608"/>
          </a:xfrm>
          <a:prstGeom prst="rect">
            <a:avLst/>
          </a:prstGeom>
          <a:noFill/>
        </p:spPr>
        <p:txBody>
          <a:bodyPr wrap="square" lIns="0" tIns="0" rIns="0" bIns="0" anchor="ctr">
            <a:spAutoFit/>
          </a:bodyPr>
          <a:lstStyle/>
          <a:p>
            <a:pPr algn="l"/>
            <a:r>
              <a:rPr sz="1050" b="1" i="0">
                <a:solidFill>
                  <a:srgbClr val="2E1B5B"/>
                </a:solidFill>
                <a:latin typeface="Calibri"/>
              </a:rPr>
              <a:t>Clean · impute · denoise</a:t>
            </a:r>
          </a:p>
        </p:txBody>
      </p:sp>
      <p:sp>
        <p:nvSpPr>
          <p:cNvPr id="73" name="Pipeline step"/>
          <p:cNvSpPr/>
          <p:nvPr/>
        </p:nvSpPr>
        <p:spPr>
          <a:xfrm>
            <a:off x="5760720" y="2578608"/>
            <a:ext cx="2743200" cy="292608"/>
          </a:xfrm>
          <a:prstGeom prst="roundRect">
            <a:avLst>
              <a:gd name="adj" fmla="val 5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Step number"/>
          <p:cNvSpPr/>
          <p:nvPr/>
        </p:nvSpPr>
        <p:spPr>
          <a:xfrm>
            <a:off x="5797296" y="2615184"/>
            <a:ext cx="219456" cy="219456"/>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FFFFFF"/>
                </a:solidFill>
                <a:latin typeface="Calibri"/>
              </a:rPr>
              <a:t>2</a:t>
            </a:r>
          </a:p>
        </p:txBody>
      </p:sp>
      <p:sp>
        <p:nvSpPr>
          <p:cNvPr id="75" name="Step text"/>
          <p:cNvSpPr txBox="1"/>
          <p:nvPr/>
        </p:nvSpPr>
        <p:spPr>
          <a:xfrm>
            <a:off x="6108192" y="2578608"/>
            <a:ext cx="2331720" cy="292608"/>
          </a:xfrm>
          <a:prstGeom prst="rect">
            <a:avLst/>
          </a:prstGeom>
          <a:noFill/>
        </p:spPr>
        <p:txBody>
          <a:bodyPr wrap="square" lIns="0" tIns="0" rIns="0" bIns="0" anchor="ctr">
            <a:spAutoFit/>
          </a:bodyPr>
          <a:lstStyle/>
          <a:p>
            <a:pPr algn="l"/>
            <a:r>
              <a:rPr sz="1050" b="1" i="0">
                <a:solidFill>
                  <a:srgbClr val="2E1B5B"/>
                </a:solidFill>
                <a:latin typeface="Calibri"/>
              </a:rPr>
              <a:t>Normalise (train-fit only)</a:t>
            </a:r>
          </a:p>
        </p:txBody>
      </p:sp>
      <p:sp>
        <p:nvSpPr>
          <p:cNvPr id="76" name="Pipeline step"/>
          <p:cNvSpPr/>
          <p:nvPr/>
        </p:nvSpPr>
        <p:spPr>
          <a:xfrm>
            <a:off x="5760720" y="2944368"/>
            <a:ext cx="2743200" cy="292608"/>
          </a:xfrm>
          <a:prstGeom prst="roundRect">
            <a:avLst>
              <a:gd name="adj" fmla="val 5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Step number"/>
          <p:cNvSpPr/>
          <p:nvPr/>
        </p:nvSpPr>
        <p:spPr>
          <a:xfrm>
            <a:off x="5797296" y="2980944"/>
            <a:ext cx="219456" cy="219456"/>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FFFFFF"/>
                </a:solidFill>
                <a:latin typeface="Calibri"/>
              </a:rPr>
              <a:t>3</a:t>
            </a:r>
          </a:p>
        </p:txBody>
      </p:sp>
      <p:sp>
        <p:nvSpPr>
          <p:cNvPr id="78" name="Step text"/>
          <p:cNvSpPr txBox="1"/>
          <p:nvPr/>
        </p:nvSpPr>
        <p:spPr>
          <a:xfrm>
            <a:off x="6108192" y="2944368"/>
            <a:ext cx="2331720" cy="292608"/>
          </a:xfrm>
          <a:prstGeom prst="rect">
            <a:avLst/>
          </a:prstGeom>
          <a:noFill/>
        </p:spPr>
        <p:txBody>
          <a:bodyPr wrap="square" lIns="0" tIns="0" rIns="0" bIns="0" anchor="ctr">
            <a:spAutoFit/>
          </a:bodyPr>
          <a:lstStyle/>
          <a:p>
            <a:pPr algn="l"/>
            <a:r>
              <a:rPr sz="1050" b="1" i="0">
                <a:solidFill>
                  <a:srgbClr val="2E1B5B"/>
                </a:solidFill>
                <a:latin typeface="Calibri"/>
              </a:rPr>
              <a:t>PCA → 8 components</a:t>
            </a:r>
          </a:p>
        </p:txBody>
      </p:sp>
      <p:sp>
        <p:nvSpPr>
          <p:cNvPr id="79" name="Pipeline step"/>
          <p:cNvSpPr/>
          <p:nvPr/>
        </p:nvSpPr>
        <p:spPr>
          <a:xfrm>
            <a:off x="5760720" y="3310128"/>
            <a:ext cx="2743200" cy="292608"/>
          </a:xfrm>
          <a:prstGeom prst="roundRect">
            <a:avLst>
              <a:gd name="adj" fmla="val 5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Step number"/>
          <p:cNvSpPr/>
          <p:nvPr/>
        </p:nvSpPr>
        <p:spPr>
          <a:xfrm>
            <a:off x="5797296" y="3346704"/>
            <a:ext cx="219456" cy="219456"/>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FFFFFF"/>
                </a:solidFill>
                <a:latin typeface="Calibri"/>
              </a:rPr>
              <a:t>4</a:t>
            </a:r>
          </a:p>
        </p:txBody>
      </p:sp>
      <p:sp>
        <p:nvSpPr>
          <p:cNvPr id="81" name="Step text"/>
          <p:cNvSpPr txBox="1"/>
          <p:nvPr/>
        </p:nvSpPr>
        <p:spPr>
          <a:xfrm>
            <a:off x="6108192" y="3310128"/>
            <a:ext cx="2331720" cy="292608"/>
          </a:xfrm>
          <a:prstGeom prst="rect">
            <a:avLst/>
          </a:prstGeom>
          <a:noFill/>
        </p:spPr>
        <p:txBody>
          <a:bodyPr wrap="square" lIns="0" tIns="0" rIns="0" bIns="0" anchor="ctr">
            <a:spAutoFit/>
          </a:bodyPr>
          <a:lstStyle/>
          <a:p>
            <a:pPr algn="l"/>
            <a:r>
              <a:rPr sz="1050" b="1" i="0">
                <a:solidFill>
                  <a:srgbClr val="2E1B5B"/>
                </a:solidFill>
                <a:latin typeface="Calibri"/>
              </a:rPr>
              <a:t>Rescale to [0, π]</a:t>
            </a:r>
          </a:p>
        </p:txBody>
      </p:sp>
      <p:sp>
        <p:nvSpPr>
          <p:cNvPr id="82" name="Pipeline step"/>
          <p:cNvSpPr/>
          <p:nvPr/>
        </p:nvSpPr>
        <p:spPr>
          <a:xfrm>
            <a:off x="5760720" y="3675888"/>
            <a:ext cx="2743200" cy="292608"/>
          </a:xfrm>
          <a:prstGeom prst="roundRect">
            <a:avLst>
              <a:gd name="adj" fmla="val 50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Step number"/>
          <p:cNvSpPr/>
          <p:nvPr/>
        </p:nvSpPr>
        <p:spPr>
          <a:xfrm>
            <a:off x="5797296" y="3712464"/>
            <a:ext cx="219456" cy="219456"/>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FFFFFF"/>
                </a:solidFill>
                <a:latin typeface="Calibri"/>
              </a:rPr>
              <a:t>5</a:t>
            </a:r>
          </a:p>
        </p:txBody>
      </p:sp>
      <p:sp>
        <p:nvSpPr>
          <p:cNvPr id="84" name="Step text"/>
          <p:cNvSpPr txBox="1"/>
          <p:nvPr/>
        </p:nvSpPr>
        <p:spPr>
          <a:xfrm>
            <a:off x="6108192" y="3675888"/>
            <a:ext cx="2331720" cy="292608"/>
          </a:xfrm>
          <a:prstGeom prst="rect">
            <a:avLst/>
          </a:prstGeom>
          <a:noFill/>
        </p:spPr>
        <p:txBody>
          <a:bodyPr wrap="square" lIns="0" tIns="0" rIns="0" bIns="0" anchor="ctr">
            <a:spAutoFit/>
          </a:bodyPr>
          <a:lstStyle/>
          <a:p>
            <a:pPr algn="l"/>
            <a:r>
              <a:rPr sz="1050" b="1" i="0">
                <a:solidFill>
                  <a:srgbClr val="FFFFFF"/>
                </a:solidFill>
                <a:latin typeface="Calibri"/>
              </a:rPr>
              <a:t>ZZFeatureMap → 8 qubits</a:t>
            </a:r>
          </a:p>
        </p:txBody>
      </p:sp>
      <p:sp>
        <p:nvSpPr>
          <p:cNvPr id="85" name="Key idea"/>
          <p:cNvSpPr/>
          <p:nvPr/>
        </p:nvSpPr>
        <p:spPr>
          <a:xfrm>
            <a:off x="5760720" y="4069080"/>
            <a:ext cx="2743200" cy="457200"/>
          </a:xfrm>
          <a:prstGeom prst="roundRect">
            <a:avLst>
              <a:gd name="adj" fmla="val 18000"/>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Key idea text"/>
          <p:cNvSpPr txBox="1"/>
          <p:nvPr/>
        </p:nvSpPr>
        <p:spPr>
          <a:xfrm>
            <a:off x="5852160" y="4069080"/>
            <a:ext cx="2560320" cy="457200"/>
          </a:xfrm>
          <a:prstGeom prst="rect">
            <a:avLst/>
          </a:prstGeom>
          <a:noFill/>
        </p:spPr>
        <p:txBody>
          <a:bodyPr wrap="square" lIns="0" tIns="0" rIns="0" bIns="0" anchor="ctr">
            <a:spAutoFit/>
          </a:bodyPr>
          <a:lstStyle/>
          <a:p>
            <a:pPr algn="l"/>
            <a:r>
              <a:rPr sz="950" b="1" i="0">
                <a:solidFill>
                  <a:srgbClr val="FFFFFF"/>
                </a:solidFill>
                <a:latin typeface="Calibri"/>
              </a:rPr>
              <a:t>Statevector kernel: states built once, a 4000×4000 Gram matrix in about 1 s</a:t>
            </a:r>
          </a:p>
        </p:txBody>
      </p:sp>
      <p:pic>
        <p:nvPicPr>
          <p:cNvPr id="12" name="Picture 11">
            <a:extLst>
              <a:ext uri="{FF2B5EF4-FFF2-40B4-BE49-F238E27FC236}">
                <a16:creationId xmlns:a16="http://schemas.microsoft.com/office/drawing/2014/main" id="{CC3C9018-5EEE-DC2F-A899-FBAB529975D3}"/>
              </a:ext>
            </a:extLst>
          </p:cNvPr>
          <p:cNvPicPr>
            <a:picLocks noChangeAspect="1"/>
          </p:cNvPicPr>
          <p:nvPr/>
        </p:nvPicPr>
        <p:blipFill>
          <a:blip r:embed="rId3"/>
          <a:stretch>
            <a:fillRect/>
          </a:stretch>
        </p:blipFill>
        <p:spPr>
          <a:xfrm>
            <a:off x="420698" y="1613934"/>
            <a:ext cx="4882822" cy="24414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Implementation &amp; Tech Stack</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7</a:t>
            </a:fld>
            <a:endParaRPr lang="en-US"/>
          </a:p>
        </p:txBody>
      </p:sp>
      <p:sp>
        <p:nvSpPr>
          <p:cNvPr id="26" name="Experience layer"/>
          <p:cNvSpPr/>
          <p:nvPr/>
        </p:nvSpPr>
        <p:spPr>
          <a:xfrm>
            <a:off x="640080" y="1874520"/>
            <a:ext cx="1463040" cy="438912"/>
          </a:xfrm>
          <a:prstGeom prst="roundRect">
            <a:avLst>
              <a:gd name="adj" fmla="val 20000"/>
            </a:avLst>
          </a:prstGeom>
          <a:solidFill>
            <a:srgbClr val="7C9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FaLaptopCode" descr="FaLaptopCode_white.png"/>
          <p:cNvPicPr>
            <a:picLocks noChangeAspect="1"/>
          </p:cNvPicPr>
          <p:nvPr/>
        </p:nvPicPr>
        <p:blipFill>
          <a:blip r:embed="rId3"/>
          <a:stretch>
            <a:fillRect/>
          </a:stretch>
        </p:blipFill>
        <p:spPr>
          <a:xfrm>
            <a:off x="768096" y="1984248"/>
            <a:ext cx="219456" cy="219456"/>
          </a:xfrm>
          <a:prstGeom prst="rect">
            <a:avLst/>
          </a:prstGeom>
        </p:spPr>
      </p:pic>
      <p:sp>
        <p:nvSpPr>
          <p:cNvPr id="28" name="Layer label"/>
          <p:cNvSpPr txBox="1"/>
          <p:nvPr/>
        </p:nvSpPr>
        <p:spPr>
          <a:xfrm>
            <a:off x="1069848" y="1874520"/>
            <a:ext cx="1005840" cy="438912"/>
          </a:xfrm>
          <a:prstGeom prst="rect">
            <a:avLst/>
          </a:prstGeom>
          <a:noFill/>
        </p:spPr>
        <p:txBody>
          <a:bodyPr wrap="square" lIns="0" tIns="0" rIns="0" bIns="0" anchor="ctr">
            <a:spAutoFit/>
          </a:bodyPr>
          <a:lstStyle/>
          <a:p>
            <a:pPr algn="l"/>
            <a:r>
              <a:rPr sz="1100" b="1" i="0">
                <a:solidFill>
                  <a:srgbClr val="FFFFFF"/>
                </a:solidFill>
                <a:latin typeface="Calibri"/>
              </a:rPr>
              <a:t>Experience</a:t>
            </a:r>
          </a:p>
        </p:txBody>
      </p:sp>
      <p:sp>
        <p:nvSpPr>
          <p:cNvPr id="29" name="Tech chip"/>
          <p:cNvSpPr/>
          <p:nvPr/>
        </p:nvSpPr>
        <p:spPr>
          <a:xfrm>
            <a:off x="2240280" y="1874520"/>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React + Vite</a:t>
            </a:r>
          </a:p>
        </p:txBody>
      </p:sp>
      <p:sp>
        <p:nvSpPr>
          <p:cNvPr id="30" name="Tech chip"/>
          <p:cNvSpPr/>
          <p:nvPr/>
        </p:nvSpPr>
        <p:spPr>
          <a:xfrm>
            <a:off x="3813048" y="1874520"/>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React Three Fiber</a:t>
            </a:r>
          </a:p>
        </p:txBody>
      </p:sp>
      <p:sp>
        <p:nvSpPr>
          <p:cNvPr id="31" name="Tech chip"/>
          <p:cNvSpPr/>
          <p:nvPr/>
        </p:nvSpPr>
        <p:spPr>
          <a:xfrm>
            <a:off x="5385816" y="1874520"/>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QR + dialer</a:t>
            </a:r>
          </a:p>
        </p:txBody>
      </p:sp>
      <p:sp>
        <p:nvSpPr>
          <p:cNvPr id="32" name="Tech chip"/>
          <p:cNvSpPr/>
          <p:nvPr/>
        </p:nvSpPr>
        <p:spPr>
          <a:xfrm>
            <a:off x="6958584" y="1874520"/>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Recharts</a:t>
            </a:r>
          </a:p>
        </p:txBody>
      </p:sp>
      <p:sp>
        <p:nvSpPr>
          <p:cNvPr id="33" name="API layer"/>
          <p:cNvSpPr/>
          <p:nvPr/>
        </p:nvSpPr>
        <p:spPr>
          <a:xfrm>
            <a:off x="640080" y="2404872"/>
            <a:ext cx="1463040" cy="438912"/>
          </a:xfrm>
          <a:prstGeom prst="roundRect">
            <a:avLst>
              <a:gd name="adj" fmla="val 20000"/>
            </a:avLst>
          </a:prstGeom>
          <a:solidFill>
            <a:srgbClr val="6B6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FaServer" descr="FaServer_white.png"/>
          <p:cNvPicPr>
            <a:picLocks noChangeAspect="1"/>
          </p:cNvPicPr>
          <p:nvPr/>
        </p:nvPicPr>
        <p:blipFill>
          <a:blip r:embed="rId4"/>
          <a:stretch>
            <a:fillRect/>
          </a:stretch>
        </p:blipFill>
        <p:spPr>
          <a:xfrm>
            <a:off x="768096" y="2514600"/>
            <a:ext cx="219456" cy="219456"/>
          </a:xfrm>
          <a:prstGeom prst="rect">
            <a:avLst/>
          </a:prstGeom>
        </p:spPr>
      </p:pic>
      <p:sp>
        <p:nvSpPr>
          <p:cNvPr id="35" name="Layer label"/>
          <p:cNvSpPr txBox="1"/>
          <p:nvPr/>
        </p:nvSpPr>
        <p:spPr>
          <a:xfrm>
            <a:off x="1069848" y="2404872"/>
            <a:ext cx="1005840" cy="438912"/>
          </a:xfrm>
          <a:prstGeom prst="rect">
            <a:avLst/>
          </a:prstGeom>
          <a:noFill/>
        </p:spPr>
        <p:txBody>
          <a:bodyPr wrap="square" lIns="0" tIns="0" rIns="0" bIns="0" anchor="ctr">
            <a:spAutoFit/>
          </a:bodyPr>
          <a:lstStyle/>
          <a:p>
            <a:pPr algn="l"/>
            <a:r>
              <a:rPr sz="1100" b="1" i="0">
                <a:solidFill>
                  <a:srgbClr val="FFFFFF"/>
                </a:solidFill>
                <a:latin typeface="Calibri"/>
              </a:rPr>
              <a:t>API</a:t>
            </a:r>
          </a:p>
        </p:txBody>
      </p:sp>
      <p:sp>
        <p:nvSpPr>
          <p:cNvPr id="36" name="Tech chip"/>
          <p:cNvSpPr/>
          <p:nvPr/>
        </p:nvSpPr>
        <p:spPr>
          <a:xfrm>
            <a:off x="2240280" y="2404872"/>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Python · FastAPI</a:t>
            </a:r>
          </a:p>
        </p:txBody>
      </p:sp>
      <p:sp>
        <p:nvSpPr>
          <p:cNvPr id="37" name="Tech chip"/>
          <p:cNvSpPr/>
          <p:nvPr/>
        </p:nvSpPr>
        <p:spPr>
          <a:xfrm>
            <a:off x="3813048" y="2404872"/>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Input validation</a:t>
            </a:r>
          </a:p>
        </p:txBody>
      </p:sp>
      <p:sp>
        <p:nvSpPr>
          <p:cNvPr id="38" name="Tech chip"/>
          <p:cNvSpPr/>
          <p:nvPr/>
        </p:nvSpPr>
        <p:spPr>
          <a:xfrm>
            <a:off x="5385816" y="2404872"/>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/predict · /metrics</a:t>
            </a:r>
          </a:p>
        </p:txBody>
      </p:sp>
      <p:sp>
        <p:nvSpPr>
          <p:cNvPr id="39" name="Tech chip"/>
          <p:cNvSpPr/>
          <p:nvPr/>
        </p:nvSpPr>
        <p:spPr>
          <a:xfrm>
            <a:off x="6958584" y="2404872"/>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/records · /qr</a:t>
            </a:r>
          </a:p>
        </p:txBody>
      </p:sp>
      <p:sp>
        <p:nvSpPr>
          <p:cNvPr id="40" name="ML engine layer"/>
          <p:cNvSpPr/>
          <p:nvPr/>
        </p:nvSpPr>
        <p:spPr>
          <a:xfrm>
            <a:off x="640080" y="2935224"/>
            <a:ext cx="1463040" cy="438912"/>
          </a:xfrm>
          <a:prstGeom prst="roundRect">
            <a:avLst>
              <a:gd name="adj" fmla="val 20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FaAtom" descr="FaAtom_white.png"/>
          <p:cNvPicPr>
            <a:picLocks noChangeAspect="1"/>
          </p:cNvPicPr>
          <p:nvPr/>
        </p:nvPicPr>
        <p:blipFill>
          <a:blip r:embed="rId5"/>
          <a:stretch>
            <a:fillRect/>
          </a:stretch>
        </p:blipFill>
        <p:spPr>
          <a:xfrm>
            <a:off x="768096" y="3044952"/>
            <a:ext cx="219456" cy="219456"/>
          </a:xfrm>
          <a:prstGeom prst="rect">
            <a:avLst/>
          </a:prstGeom>
        </p:spPr>
      </p:pic>
      <p:sp>
        <p:nvSpPr>
          <p:cNvPr id="42" name="Layer label"/>
          <p:cNvSpPr txBox="1"/>
          <p:nvPr/>
        </p:nvSpPr>
        <p:spPr>
          <a:xfrm>
            <a:off x="1069848" y="2935224"/>
            <a:ext cx="1005840" cy="438912"/>
          </a:xfrm>
          <a:prstGeom prst="rect">
            <a:avLst/>
          </a:prstGeom>
          <a:noFill/>
        </p:spPr>
        <p:txBody>
          <a:bodyPr wrap="square" lIns="0" tIns="0" rIns="0" bIns="0" anchor="ctr">
            <a:spAutoFit/>
          </a:bodyPr>
          <a:lstStyle/>
          <a:p>
            <a:pPr algn="l"/>
            <a:r>
              <a:rPr sz="1100" b="1" i="0">
                <a:solidFill>
                  <a:srgbClr val="FFFFFF"/>
                </a:solidFill>
                <a:latin typeface="Calibri"/>
              </a:rPr>
              <a:t>ML engine</a:t>
            </a:r>
          </a:p>
        </p:txBody>
      </p:sp>
      <p:sp>
        <p:nvSpPr>
          <p:cNvPr id="43" name="Tech chip"/>
          <p:cNvSpPr/>
          <p:nvPr/>
        </p:nvSpPr>
        <p:spPr>
          <a:xfrm>
            <a:off x="2240280" y="2935224"/>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scikit-learn</a:t>
            </a:r>
          </a:p>
        </p:txBody>
      </p:sp>
      <p:sp>
        <p:nvSpPr>
          <p:cNvPr id="44" name="Tech chip"/>
          <p:cNvSpPr/>
          <p:nvPr/>
        </p:nvSpPr>
        <p:spPr>
          <a:xfrm>
            <a:off x="3813048" y="2935224"/>
            <a:ext cx="1481328" cy="438912"/>
          </a:xfrm>
          <a:prstGeom prst="roundRect">
            <a:avLst>
              <a:gd name="adj" fmla="val 20000"/>
            </a:avLst>
          </a:prstGeom>
          <a:solidFill>
            <a:srgbClr val="FDE7F1"/>
          </a:solidFill>
          <a:ln w="12700">
            <a:solidFill>
              <a:srgbClr val="E8639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Qiskit 2.x</a:t>
            </a:r>
          </a:p>
        </p:txBody>
      </p:sp>
      <p:sp>
        <p:nvSpPr>
          <p:cNvPr id="45" name="Tech chip"/>
          <p:cNvSpPr/>
          <p:nvPr/>
        </p:nvSpPr>
        <p:spPr>
          <a:xfrm>
            <a:off x="5385816" y="2935224"/>
            <a:ext cx="1481328" cy="438912"/>
          </a:xfrm>
          <a:prstGeom prst="roundRect">
            <a:avLst>
              <a:gd name="adj" fmla="val 20000"/>
            </a:avLst>
          </a:prstGeom>
          <a:solidFill>
            <a:srgbClr val="FDE7F1"/>
          </a:solidFill>
          <a:ln w="12700">
            <a:solidFill>
              <a:srgbClr val="E8639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Closed-form kernel</a:t>
            </a:r>
          </a:p>
        </p:txBody>
      </p:sp>
      <p:sp>
        <p:nvSpPr>
          <p:cNvPr id="46" name="Tech chip"/>
          <p:cNvSpPr/>
          <p:nvPr/>
        </p:nvSpPr>
        <p:spPr>
          <a:xfrm>
            <a:off x="6958584" y="2935224"/>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SPSA · COBYLA</a:t>
            </a:r>
          </a:p>
        </p:txBody>
      </p:sp>
      <p:sp>
        <p:nvSpPr>
          <p:cNvPr id="47" name="Data layer"/>
          <p:cNvSpPr/>
          <p:nvPr/>
        </p:nvSpPr>
        <p:spPr>
          <a:xfrm>
            <a:off x="640080" y="3465576"/>
            <a:ext cx="1463040" cy="438912"/>
          </a:xfrm>
          <a:prstGeom prst="roundRect">
            <a:avLst>
              <a:gd name="adj" fmla="val 20000"/>
            </a:avLst>
          </a:prstGeom>
          <a:solidFill>
            <a:srgbClr val="453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FaDatabase" descr="FaDatabase_white.png"/>
          <p:cNvPicPr>
            <a:picLocks noChangeAspect="1"/>
          </p:cNvPicPr>
          <p:nvPr/>
        </p:nvPicPr>
        <p:blipFill>
          <a:blip r:embed="rId6"/>
          <a:stretch>
            <a:fillRect/>
          </a:stretch>
        </p:blipFill>
        <p:spPr>
          <a:xfrm>
            <a:off x="768096" y="3575304"/>
            <a:ext cx="219456" cy="219456"/>
          </a:xfrm>
          <a:prstGeom prst="rect">
            <a:avLst/>
          </a:prstGeom>
        </p:spPr>
      </p:pic>
      <p:sp>
        <p:nvSpPr>
          <p:cNvPr id="49" name="Layer label"/>
          <p:cNvSpPr txBox="1"/>
          <p:nvPr/>
        </p:nvSpPr>
        <p:spPr>
          <a:xfrm>
            <a:off x="1069848" y="3465576"/>
            <a:ext cx="1005840" cy="438912"/>
          </a:xfrm>
          <a:prstGeom prst="rect">
            <a:avLst/>
          </a:prstGeom>
          <a:noFill/>
        </p:spPr>
        <p:txBody>
          <a:bodyPr wrap="square" lIns="0" tIns="0" rIns="0" bIns="0" anchor="ctr">
            <a:spAutoFit/>
          </a:bodyPr>
          <a:lstStyle/>
          <a:p>
            <a:pPr algn="l"/>
            <a:r>
              <a:rPr sz="1100" b="1" i="0">
                <a:solidFill>
                  <a:srgbClr val="FFFFFF"/>
                </a:solidFill>
                <a:latin typeface="Calibri"/>
              </a:rPr>
              <a:t>Data</a:t>
            </a:r>
          </a:p>
        </p:txBody>
      </p:sp>
      <p:sp>
        <p:nvSpPr>
          <p:cNvPr id="50" name="Tech chip"/>
          <p:cNvSpPr/>
          <p:nvPr/>
        </p:nvSpPr>
        <p:spPr>
          <a:xfrm>
            <a:off x="2240280" y="3465576"/>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Heart (Cleveland)</a:t>
            </a:r>
          </a:p>
        </p:txBody>
      </p:sp>
      <p:sp>
        <p:nvSpPr>
          <p:cNvPr id="51" name="Tech chip"/>
          <p:cNvSpPr/>
          <p:nvPr/>
        </p:nvSpPr>
        <p:spPr>
          <a:xfrm>
            <a:off x="3813048" y="3465576"/>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Diabetes (Pima)</a:t>
            </a:r>
          </a:p>
        </p:txBody>
      </p:sp>
      <p:sp>
        <p:nvSpPr>
          <p:cNvPr id="52" name="Tech chip"/>
          <p:cNvSpPr/>
          <p:nvPr/>
        </p:nvSpPr>
        <p:spPr>
          <a:xfrm>
            <a:off x="5385816" y="3465576"/>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Synthetic demo records</a:t>
            </a:r>
          </a:p>
        </p:txBody>
      </p:sp>
      <p:sp>
        <p:nvSpPr>
          <p:cNvPr id="53" name="Tech chip"/>
          <p:cNvSpPr/>
          <p:nvPr/>
        </p:nvSpPr>
        <p:spPr>
          <a:xfrm>
            <a:off x="6958584" y="3465576"/>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Upload your CSV</a:t>
            </a:r>
          </a:p>
        </p:txBody>
      </p:sp>
      <p:sp>
        <p:nvSpPr>
          <p:cNvPr id="54" name="Ship layer"/>
          <p:cNvSpPr/>
          <p:nvPr/>
        </p:nvSpPr>
        <p:spPr>
          <a:xfrm>
            <a:off x="640080" y="3995928"/>
            <a:ext cx="1463040" cy="438912"/>
          </a:xfrm>
          <a:prstGeom prst="roundRect">
            <a:avLst>
              <a:gd name="adj" fmla="val 20000"/>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FaRocket" descr="FaRocket_white.png"/>
          <p:cNvPicPr>
            <a:picLocks noChangeAspect="1"/>
          </p:cNvPicPr>
          <p:nvPr/>
        </p:nvPicPr>
        <p:blipFill>
          <a:blip r:embed="rId7"/>
          <a:stretch>
            <a:fillRect/>
          </a:stretch>
        </p:blipFill>
        <p:spPr>
          <a:xfrm>
            <a:off x="768096" y="4105656"/>
            <a:ext cx="219456" cy="219456"/>
          </a:xfrm>
          <a:prstGeom prst="rect">
            <a:avLst/>
          </a:prstGeom>
        </p:spPr>
      </p:pic>
      <p:sp>
        <p:nvSpPr>
          <p:cNvPr id="56" name="Layer label"/>
          <p:cNvSpPr txBox="1"/>
          <p:nvPr/>
        </p:nvSpPr>
        <p:spPr>
          <a:xfrm>
            <a:off x="1069848" y="3995928"/>
            <a:ext cx="1005840" cy="438912"/>
          </a:xfrm>
          <a:prstGeom prst="rect">
            <a:avLst/>
          </a:prstGeom>
          <a:noFill/>
        </p:spPr>
        <p:txBody>
          <a:bodyPr wrap="square" lIns="0" tIns="0" rIns="0" bIns="0" anchor="ctr">
            <a:spAutoFit/>
          </a:bodyPr>
          <a:lstStyle/>
          <a:p>
            <a:pPr algn="l"/>
            <a:r>
              <a:rPr sz="1100" b="1" i="0">
                <a:solidFill>
                  <a:srgbClr val="FFFFFF"/>
                </a:solidFill>
                <a:latin typeface="Calibri"/>
              </a:rPr>
              <a:t>Ship</a:t>
            </a:r>
          </a:p>
        </p:txBody>
      </p:sp>
      <p:sp>
        <p:nvSpPr>
          <p:cNvPr id="57" name="Tech chip"/>
          <p:cNvSpPr/>
          <p:nvPr/>
        </p:nvSpPr>
        <p:spPr>
          <a:xfrm>
            <a:off x="2240280" y="3995928"/>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Docker</a:t>
            </a:r>
          </a:p>
        </p:txBody>
      </p:sp>
      <p:sp>
        <p:nvSpPr>
          <p:cNvPr id="58" name="Tech chip"/>
          <p:cNvSpPr/>
          <p:nvPr/>
        </p:nvSpPr>
        <p:spPr>
          <a:xfrm>
            <a:off x="3813048" y="3995928"/>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Render · Fly.io</a:t>
            </a:r>
          </a:p>
        </p:txBody>
      </p:sp>
      <p:sp>
        <p:nvSpPr>
          <p:cNvPr id="59" name="Tech chip"/>
          <p:cNvSpPr/>
          <p:nvPr/>
        </p:nvSpPr>
        <p:spPr>
          <a:xfrm>
            <a:off x="5385816" y="3995928"/>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Python 3.12</a:t>
            </a:r>
          </a:p>
        </p:txBody>
      </p:sp>
      <p:sp>
        <p:nvSpPr>
          <p:cNvPr id="60" name="Tech chip"/>
          <p:cNvSpPr/>
          <p:nvPr/>
        </p:nvSpPr>
        <p:spPr>
          <a:xfrm>
            <a:off x="6958584" y="3995928"/>
            <a:ext cx="1481328" cy="438912"/>
          </a:xfrm>
          <a:prstGeom prst="roundRect">
            <a:avLst>
              <a:gd name="adj" fmla="val 20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i="0">
                <a:solidFill>
                  <a:srgbClr val="2E1B5B"/>
                </a:solidFill>
                <a:latin typeface="Calibri"/>
              </a:rPr>
              <a:t>Pinned dependencies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Results &amp; Analysis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8" name="Content card"/>
          <p:cNvSpPr/>
          <p:nvPr/>
        </p:nvSpPr>
        <p:spPr>
          <a:xfrm>
            <a:off x="5577840" y="1691640"/>
            <a:ext cx="3108960" cy="2926080"/>
          </a:xfrm>
          <a:prstGeom prst="roundRect">
            <a:avLst>
              <a:gd name="adj" fmla="val 2500"/>
            </a:avLst>
          </a:prstGeom>
          <a:solidFill>
            <a:srgbClr val="FFFFFF"/>
          </a:solidFill>
          <a:ln w="9525">
            <a:solidFill>
              <a:srgbClr val="B8BDEB"/>
            </a:solidFill>
            <a:prstDash val="solid"/>
          </a:ln>
        </p:spPr>
      </p:sp>
      <p:sp>
        <p:nvSpPr>
          <p:cNvPr id="9" name="Card accent"/>
          <p:cNvSpPr/>
          <p:nvPr/>
        </p:nvSpPr>
        <p:spPr>
          <a:xfrm>
            <a:off x="5806440" y="1691640"/>
            <a:ext cx="822960" cy="54864"/>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8</a:t>
            </a:fld>
            <a:endParaRPr lang="en-US"/>
          </a:p>
        </p:txBody>
      </p:sp>
      <p:sp>
        <p:nvSpPr>
          <p:cNvPr id="26" name="Chart panel"/>
          <p:cNvSpPr/>
          <p:nvPr/>
        </p:nvSpPr>
        <p:spPr>
          <a:xfrm>
            <a:off x="457200" y="1691640"/>
            <a:ext cx="4937760" cy="2926080"/>
          </a:xfrm>
          <a:prstGeom prst="roundRect">
            <a:avLst>
              <a:gd name="adj" fmla="val 25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ard accent"/>
          <p:cNvSpPr/>
          <p:nvPr/>
        </p:nvSpPr>
        <p:spPr>
          <a:xfrm>
            <a:off x="685800" y="1691640"/>
            <a:ext cx="822960" cy="54864"/>
          </a:xfrm>
          <a:prstGeom prst="rect">
            <a:avLst/>
          </a:prstGeom>
          <a:solidFill>
            <a:srgbClr val="7C9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4CDD1773-1C69-48DE-2911-99D7ED998905}"/>
              </a:ext>
            </a:extLst>
          </p:cNvPr>
          <p:cNvPicPr>
            <a:picLocks noChangeAspect="1"/>
          </p:cNvPicPr>
          <p:nvPr/>
        </p:nvPicPr>
        <p:blipFill>
          <a:blip r:embed="rId3"/>
          <a:stretch>
            <a:fillRect/>
          </a:stretch>
        </p:blipFill>
        <p:spPr>
          <a:xfrm>
            <a:off x="202791" y="1792797"/>
            <a:ext cx="5447532" cy="2723766"/>
          </a:xfrm>
          <a:prstGeom prst="rect">
            <a:avLst/>
          </a:prstGeom>
        </p:spPr>
      </p:pic>
      <p:pic>
        <p:nvPicPr>
          <p:cNvPr id="16" name="Picture 15">
            <a:extLst>
              <a:ext uri="{FF2B5EF4-FFF2-40B4-BE49-F238E27FC236}">
                <a16:creationId xmlns:a16="http://schemas.microsoft.com/office/drawing/2014/main" id="{68C2CFD4-54D5-2EEA-8C33-EBA3A7441984}"/>
              </a:ext>
            </a:extLst>
          </p:cNvPr>
          <p:cNvPicPr>
            <a:picLocks noChangeAspect="1"/>
          </p:cNvPicPr>
          <p:nvPr/>
        </p:nvPicPr>
        <p:blipFill>
          <a:blip r:embed="rId4"/>
          <a:stretch>
            <a:fillRect/>
          </a:stretch>
        </p:blipFill>
        <p:spPr>
          <a:xfrm>
            <a:off x="5806440" y="1701749"/>
            <a:ext cx="2724243" cy="28759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Why Quantum Wins, or Loses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8" name="Content card"/>
          <p:cNvSpPr/>
          <p:nvPr/>
        </p:nvSpPr>
        <p:spPr>
          <a:xfrm>
            <a:off x="5806440" y="1691640"/>
            <a:ext cx="2651760" cy="2926080"/>
          </a:xfrm>
          <a:prstGeom prst="roundRect">
            <a:avLst>
              <a:gd name="adj" fmla="val 2500"/>
            </a:avLst>
          </a:prstGeom>
          <a:solidFill>
            <a:srgbClr val="FFFFFF"/>
          </a:solidFill>
          <a:ln w="9525">
            <a:solidFill>
              <a:srgbClr val="B8BDEB"/>
            </a:solidFill>
            <a:prstDash val="solid"/>
          </a:ln>
        </p:spPr>
      </p:sp>
      <p:sp>
        <p:nvSpPr>
          <p:cNvPr id="9" name="Card accent"/>
          <p:cNvSpPr/>
          <p:nvPr/>
        </p:nvSpPr>
        <p:spPr>
          <a:xfrm>
            <a:off x="5806440" y="1691640"/>
            <a:ext cx="822960" cy="54864"/>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9</a:t>
            </a:fld>
            <a:endParaRPr lang="en-US"/>
          </a:p>
        </p:txBody>
      </p:sp>
      <p:sp>
        <p:nvSpPr>
          <p:cNvPr id="26" name="Chart panel"/>
          <p:cNvSpPr/>
          <p:nvPr/>
        </p:nvSpPr>
        <p:spPr>
          <a:xfrm>
            <a:off x="262128" y="1691640"/>
            <a:ext cx="5431536" cy="2926080"/>
          </a:xfrm>
          <a:prstGeom prst="roundRect">
            <a:avLst>
              <a:gd name="adj" fmla="val 25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ard accent"/>
          <p:cNvSpPr/>
          <p:nvPr/>
        </p:nvSpPr>
        <p:spPr>
          <a:xfrm>
            <a:off x="685800" y="1691640"/>
            <a:ext cx="822960" cy="54864"/>
          </a:xfrm>
          <a:prstGeom prst="rect">
            <a:avLst/>
          </a:prstGeom>
          <a:solidFill>
            <a:srgbClr val="7C9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a:extLst>
              <a:ext uri="{FF2B5EF4-FFF2-40B4-BE49-F238E27FC236}">
                <a16:creationId xmlns:a16="http://schemas.microsoft.com/office/drawing/2014/main" id="{529F8D64-ABED-D4DC-1E90-CE82F71BD5F9}"/>
              </a:ext>
            </a:extLst>
          </p:cNvPr>
          <p:cNvPicPr>
            <a:picLocks noChangeAspect="1"/>
          </p:cNvPicPr>
          <p:nvPr/>
        </p:nvPicPr>
        <p:blipFill>
          <a:blip r:embed="rId3"/>
          <a:stretch>
            <a:fillRect/>
          </a:stretch>
        </p:blipFill>
        <p:spPr>
          <a:xfrm>
            <a:off x="319705" y="1751054"/>
            <a:ext cx="5316381" cy="2807247"/>
          </a:xfrm>
          <a:prstGeom prst="rect">
            <a:avLst/>
          </a:prstGeom>
        </p:spPr>
      </p:pic>
      <p:pic>
        <p:nvPicPr>
          <p:cNvPr id="12" name="Picture 11">
            <a:extLst>
              <a:ext uri="{FF2B5EF4-FFF2-40B4-BE49-F238E27FC236}">
                <a16:creationId xmlns:a16="http://schemas.microsoft.com/office/drawing/2014/main" id="{16CAAA59-EC70-0570-312D-A324E1008BD8}"/>
              </a:ext>
            </a:extLst>
          </p:cNvPr>
          <p:cNvPicPr>
            <a:picLocks noChangeAspect="1"/>
          </p:cNvPicPr>
          <p:nvPr/>
        </p:nvPicPr>
        <p:blipFill>
          <a:blip r:embed="rId4"/>
          <a:stretch>
            <a:fillRect/>
          </a:stretch>
        </p:blipFill>
        <p:spPr>
          <a:xfrm>
            <a:off x="5860332" y="1714498"/>
            <a:ext cx="2543975" cy="288036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Decision Support</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10</a:t>
            </a:fld>
            <a:endParaRPr lang="en-US"/>
          </a:p>
        </p:txBody>
      </p:sp>
      <p:sp>
        <p:nvSpPr>
          <p:cNvPr id="26" name="Chart title"/>
          <p:cNvSpPr txBox="1"/>
          <p:nvPr/>
        </p:nvSpPr>
        <p:spPr>
          <a:xfrm>
            <a:off x="640080" y="1828800"/>
            <a:ext cx="4389120" cy="228600"/>
          </a:xfrm>
          <a:prstGeom prst="rect">
            <a:avLst/>
          </a:prstGeom>
          <a:noFill/>
        </p:spPr>
        <p:txBody>
          <a:bodyPr wrap="square" lIns="0" tIns="0" rIns="0" bIns="0" anchor="t">
            <a:spAutoFit/>
          </a:bodyPr>
          <a:lstStyle/>
          <a:p>
            <a:pPr algn="l"/>
            <a:r>
              <a:rPr sz="1100" b="1" i="0">
                <a:solidFill>
                  <a:srgbClr val="5B3BA8"/>
                </a:solidFill>
                <a:latin typeface="Calibri"/>
              </a:rPr>
              <a:t>Observed outcome rate in each risk band</a:t>
            </a:r>
          </a:p>
        </p:txBody>
      </p:sp>
      <p:graphicFrame>
        <p:nvGraphicFramePr>
          <p:cNvPr id="27" name="Risk band chart"/>
          <p:cNvGraphicFramePr>
            <a:graphicFrameLocks noGrp="1"/>
          </p:cNvGraphicFramePr>
          <p:nvPr/>
        </p:nvGraphicFramePr>
        <p:xfrm>
          <a:off x="548640" y="2057400"/>
          <a:ext cx="457200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28" name="Chart caption"/>
          <p:cNvSpPr txBox="1"/>
          <p:nvPr/>
        </p:nvSpPr>
        <p:spPr>
          <a:xfrm>
            <a:off x="640080" y="4315968"/>
            <a:ext cx="4389120" cy="201168"/>
          </a:xfrm>
          <a:prstGeom prst="rect">
            <a:avLst/>
          </a:prstGeom>
          <a:noFill/>
        </p:spPr>
        <p:txBody>
          <a:bodyPr wrap="square" lIns="0" tIns="0" rIns="0" bIns="0" anchor="t">
            <a:spAutoFit/>
          </a:bodyPr>
          <a:lstStyle/>
          <a:p>
            <a:pPr algn="l"/>
            <a:r>
              <a:rPr sz="900" b="0" i="1">
                <a:solidFill>
                  <a:srgbClr val="6F7399"/>
                </a:solidFill>
                <a:latin typeface="Calibri"/>
              </a:rPr>
              <a:t>Observed rates mostly rise with band · small held-out test sets</a:t>
            </a:r>
          </a:p>
        </p:txBody>
      </p:sp>
      <p:sp>
        <p:nvSpPr>
          <p:cNvPr id="29" name="Divider"/>
          <p:cNvSpPr/>
          <p:nvPr/>
        </p:nvSpPr>
        <p:spPr>
          <a:xfrm>
            <a:off x="5257800" y="1828800"/>
            <a:ext cx="9144" cy="2697480"/>
          </a:xfrm>
          <a:prstGeom prst="rect">
            <a:avLst/>
          </a:prstGeom>
          <a:solidFill>
            <a:srgbClr val="CBD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Donut title"/>
          <p:cNvSpPr txBox="1"/>
          <p:nvPr/>
        </p:nvSpPr>
        <p:spPr>
          <a:xfrm>
            <a:off x="5440680" y="1828800"/>
            <a:ext cx="3108960" cy="228600"/>
          </a:xfrm>
          <a:prstGeom prst="rect">
            <a:avLst/>
          </a:prstGeom>
          <a:noFill/>
        </p:spPr>
        <p:txBody>
          <a:bodyPr wrap="square" lIns="0" tIns="0" rIns="0" bIns="0" anchor="t">
            <a:spAutoFit/>
          </a:bodyPr>
          <a:lstStyle/>
          <a:p>
            <a:pPr algn="l"/>
            <a:r>
              <a:rPr sz="1100" b="1" i="0">
                <a:solidFill>
                  <a:srgbClr val="5B3BA8"/>
                </a:solidFill>
                <a:latin typeface="Calibri"/>
              </a:rPr>
              <a:t>Conformal prediction: commit or abstain</a:t>
            </a:r>
          </a:p>
        </p:txBody>
      </p:sp>
      <p:graphicFrame>
        <p:nvGraphicFramePr>
          <p:cNvPr id="31" name="Heart abstain donut"/>
          <p:cNvGraphicFramePr>
            <a:graphicFrameLocks noGrp="1"/>
          </p:cNvGraphicFramePr>
          <p:nvPr/>
        </p:nvGraphicFramePr>
        <p:xfrm>
          <a:off x="5550408" y="2148840"/>
          <a:ext cx="1426464" cy="1426464"/>
        </p:xfrm>
        <a:graphic>
          <a:graphicData uri="http://schemas.openxmlformats.org/drawingml/2006/chart">
            <c:chart xmlns:c="http://schemas.openxmlformats.org/drawingml/2006/chart" xmlns:r="http://schemas.openxmlformats.org/officeDocument/2006/relationships" r:id="rId4"/>
          </a:graphicData>
        </a:graphic>
      </p:graphicFrame>
      <p:sp>
        <p:nvSpPr>
          <p:cNvPr id="32" name="Donut centre"/>
          <p:cNvSpPr txBox="1"/>
          <p:nvPr/>
        </p:nvSpPr>
        <p:spPr>
          <a:xfrm>
            <a:off x="5806440" y="2606040"/>
            <a:ext cx="914400" cy="502920"/>
          </a:xfrm>
          <a:prstGeom prst="rect">
            <a:avLst/>
          </a:prstGeom>
          <a:noFill/>
        </p:spPr>
        <p:txBody>
          <a:bodyPr wrap="square" lIns="0" tIns="0" rIns="0" bIns="0" anchor="ctr">
            <a:spAutoFit/>
          </a:bodyPr>
          <a:lstStyle/>
          <a:p>
            <a:pPr algn="ctr"/>
            <a:r>
              <a:rPr sz="1700" b="1" i="0" dirty="0">
                <a:solidFill>
                  <a:srgbClr val="E8639F"/>
                </a:solidFill>
                <a:latin typeface="Georgia"/>
              </a:rPr>
              <a:t>43%</a:t>
            </a:r>
          </a:p>
          <a:p>
            <a:pPr algn="ctr"/>
            <a:r>
              <a:rPr sz="900" b="0" i="0" dirty="0">
                <a:solidFill>
                  <a:srgbClr val="6F7399"/>
                </a:solidFill>
                <a:latin typeface="Calibri"/>
              </a:rPr>
              <a:t>abstain</a:t>
            </a:r>
          </a:p>
        </p:txBody>
      </p:sp>
      <p:sp>
        <p:nvSpPr>
          <p:cNvPr id="33" name="Donut caption"/>
          <p:cNvSpPr txBox="1"/>
          <p:nvPr/>
        </p:nvSpPr>
        <p:spPr>
          <a:xfrm>
            <a:off x="5532120" y="3611880"/>
            <a:ext cx="1463040" cy="548640"/>
          </a:xfrm>
          <a:prstGeom prst="rect">
            <a:avLst/>
          </a:prstGeom>
          <a:noFill/>
        </p:spPr>
        <p:txBody>
          <a:bodyPr wrap="square" lIns="0" tIns="0" rIns="0" bIns="0" anchor="t">
            <a:spAutoFit/>
          </a:bodyPr>
          <a:lstStyle/>
          <a:p>
            <a:pPr algn="ctr"/>
            <a:r>
              <a:rPr sz="1100" b="1" i="0">
                <a:solidFill>
                  <a:srgbClr val="2E1B5B"/>
                </a:solidFill>
                <a:latin typeface="Calibri"/>
              </a:rPr>
              <a:t>Heart</a:t>
            </a:r>
          </a:p>
          <a:p>
            <a:pPr algn="ctr"/>
            <a:r>
              <a:rPr sz="950" b="0" i="0">
                <a:solidFill>
                  <a:srgbClr val="6F7399"/>
                </a:solidFill>
                <a:latin typeface="Calibri"/>
              </a:rPr>
              <a:t>97% accurate</a:t>
            </a:r>
          </a:p>
          <a:p>
            <a:pPr algn="ctr"/>
            <a:r>
              <a:rPr sz="950" b="0" i="0">
                <a:solidFill>
                  <a:srgbClr val="6F7399"/>
                </a:solidFill>
                <a:latin typeface="Calibri"/>
              </a:rPr>
              <a:t>when it commits</a:t>
            </a:r>
          </a:p>
        </p:txBody>
      </p:sp>
      <p:graphicFrame>
        <p:nvGraphicFramePr>
          <p:cNvPr id="34" name="Diabetes abstain donut"/>
          <p:cNvGraphicFramePr>
            <a:graphicFrameLocks noGrp="1"/>
          </p:cNvGraphicFramePr>
          <p:nvPr/>
        </p:nvGraphicFramePr>
        <p:xfrm>
          <a:off x="7059168" y="2148840"/>
          <a:ext cx="1426464" cy="1426464"/>
        </p:xfrm>
        <a:graphic>
          <a:graphicData uri="http://schemas.openxmlformats.org/drawingml/2006/chart">
            <c:chart xmlns:c="http://schemas.openxmlformats.org/drawingml/2006/chart" xmlns:r="http://schemas.openxmlformats.org/officeDocument/2006/relationships" r:id="rId5"/>
          </a:graphicData>
        </a:graphic>
      </p:graphicFrame>
      <p:sp>
        <p:nvSpPr>
          <p:cNvPr id="35" name="Donut centre"/>
          <p:cNvSpPr txBox="1"/>
          <p:nvPr/>
        </p:nvSpPr>
        <p:spPr>
          <a:xfrm>
            <a:off x="7315200" y="2606040"/>
            <a:ext cx="914400" cy="502920"/>
          </a:xfrm>
          <a:prstGeom prst="rect">
            <a:avLst/>
          </a:prstGeom>
          <a:noFill/>
        </p:spPr>
        <p:txBody>
          <a:bodyPr wrap="square" lIns="0" tIns="0" rIns="0" bIns="0" anchor="ctr">
            <a:spAutoFit/>
          </a:bodyPr>
          <a:lstStyle/>
          <a:p>
            <a:pPr algn="ctr"/>
            <a:r>
              <a:rPr sz="1700" b="1" i="0">
                <a:solidFill>
                  <a:srgbClr val="E8639F"/>
                </a:solidFill>
                <a:latin typeface="Georgia"/>
              </a:rPr>
              <a:t>39%</a:t>
            </a:r>
          </a:p>
          <a:p>
            <a:pPr algn="ctr"/>
            <a:r>
              <a:rPr sz="900" b="0" i="0">
                <a:solidFill>
                  <a:srgbClr val="6F7399"/>
                </a:solidFill>
                <a:latin typeface="Calibri"/>
              </a:rPr>
              <a:t>abstain</a:t>
            </a:r>
          </a:p>
        </p:txBody>
      </p:sp>
      <p:sp>
        <p:nvSpPr>
          <p:cNvPr id="36" name="Donut caption"/>
          <p:cNvSpPr txBox="1"/>
          <p:nvPr/>
        </p:nvSpPr>
        <p:spPr>
          <a:xfrm>
            <a:off x="7040880" y="3611880"/>
            <a:ext cx="1463040" cy="548640"/>
          </a:xfrm>
          <a:prstGeom prst="rect">
            <a:avLst/>
          </a:prstGeom>
          <a:noFill/>
        </p:spPr>
        <p:txBody>
          <a:bodyPr wrap="square" lIns="0" tIns="0" rIns="0" bIns="0" anchor="t">
            <a:spAutoFit/>
          </a:bodyPr>
          <a:lstStyle/>
          <a:p>
            <a:pPr algn="ctr"/>
            <a:r>
              <a:rPr sz="1100" b="1" i="0" dirty="0">
                <a:solidFill>
                  <a:srgbClr val="2E1B5B"/>
                </a:solidFill>
                <a:latin typeface="Calibri"/>
              </a:rPr>
              <a:t>Diabetes</a:t>
            </a:r>
          </a:p>
          <a:p>
            <a:pPr algn="ctr"/>
            <a:r>
              <a:rPr sz="950" b="0" i="0" dirty="0">
                <a:solidFill>
                  <a:srgbClr val="6F7399"/>
                </a:solidFill>
                <a:latin typeface="Calibri"/>
              </a:rPr>
              <a:t>82% accurate</a:t>
            </a:r>
          </a:p>
          <a:p>
            <a:pPr algn="ctr"/>
            <a:r>
              <a:rPr sz="950" b="0" i="0" dirty="0">
                <a:solidFill>
                  <a:srgbClr val="6F7399"/>
                </a:solidFill>
                <a:latin typeface="Calibri"/>
              </a:rPr>
              <a:t>when it commits</a:t>
            </a:r>
          </a:p>
        </p:txBody>
      </p:sp>
      <p:sp>
        <p:nvSpPr>
          <p:cNvPr id="37" name="Caveat"/>
          <p:cNvSpPr/>
          <p:nvPr/>
        </p:nvSpPr>
        <p:spPr>
          <a:xfrm>
            <a:off x="5440680" y="4160520"/>
            <a:ext cx="3108960" cy="365760"/>
          </a:xfrm>
          <a:prstGeom prst="roundRect">
            <a:avLst>
              <a:gd name="adj" fmla="val 30000"/>
            </a:avLst>
          </a:prstGeom>
          <a:solidFill>
            <a:srgbClr val="FDE7F1"/>
          </a:solidFill>
          <a:ln w="9525">
            <a:solidFill>
              <a:srgbClr val="E863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Caveat text"/>
          <p:cNvSpPr txBox="1"/>
          <p:nvPr/>
        </p:nvSpPr>
        <p:spPr>
          <a:xfrm>
            <a:off x="5532120" y="4402946"/>
            <a:ext cx="2926080" cy="146194"/>
          </a:xfrm>
          <a:prstGeom prst="rect">
            <a:avLst/>
          </a:prstGeom>
          <a:noFill/>
        </p:spPr>
        <p:txBody>
          <a:bodyPr wrap="square" lIns="0" tIns="0" rIns="0" bIns="0" anchor="ctr">
            <a:spAutoFit/>
          </a:bodyPr>
          <a:lstStyle/>
          <a:p>
            <a:pPr algn="ctr"/>
            <a:r>
              <a:rPr sz="950" b="1" i="0" dirty="0">
                <a:solidFill>
                  <a:srgbClr val="2E1B5B"/>
                </a:solidFill>
                <a:latin typeface="Calibri"/>
              </a:rPr>
              <a:t>Calibration sets are small, so guarantees are loose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Impact &amp; Real-World Applications</a:t>
            </a:r>
            <a:endParaRPr lang="en-US" sz="2600" dirty="0"/>
          </a:p>
        </p:txBody>
      </p:sp>
      <p:sp>
        <p:nvSpPr>
          <p:cNvPr id="3" name="Title accent"/>
          <p:cNvSpPr/>
          <p:nvPr/>
        </p:nvSpPr>
        <p:spPr>
          <a:xfrm flipV="1">
            <a:off x="457200" y="1417321"/>
            <a:ext cx="224463" cy="45719"/>
          </a:xfrm>
          <a:prstGeom prst="rect">
            <a:avLst/>
          </a:prstGeom>
          <a:solidFill>
            <a:srgbClr val="7C93F0"/>
          </a:solidFill>
          <a:ln w="12700">
            <a:solidFill>
              <a:srgbClr val="7C93F0"/>
            </a:solidFill>
            <a:prstDash val="solid"/>
          </a:ln>
        </p:spPr>
      </p:sp>
      <p:sp>
        <p:nvSpPr>
          <p:cNvPr id="4" name="Title accent"/>
          <p:cNvSpPr/>
          <p:nvPr/>
        </p:nvSpPr>
        <p:spPr>
          <a:xfrm flipV="1">
            <a:off x="731520" y="1417321"/>
            <a:ext cx="224463" cy="45719"/>
          </a:xfrm>
          <a:prstGeom prst="rect">
            <a:avLst/>
          </a:prstGeom>
          <a:solidFill>
            <a:srgbClr val="E8639F"/>
          </a:solidFill>
          <a:ln w="12700">
            <a:solidFill>
              <a:srgbClr val="E8639F"/>
            </a:solidFill>
            <a:prstDash val="solid"/>
          </a:ln>
        </p:spPr>
      </p:sp>
      <p:sp>
        <p:nvSpPr>
          <p:cNvPr id="5" name="Title accent"/>
          <p:cNvSpPr/>
          <p:nvPr/>
        </p:nvSpPr>
        <p:spPr>
          <a:xfrm flipV="1">
            <a:off x="1005840" y="1417321"/>
            <a:ext cx="224463" cy="45719"/>
          </a:xfrm>
          <a:prstGeom prst="rect">
            <a:avLst/>
          </a:prstGeom>
          <a:solidFill>
            <a:srgbClr val="5B3BA8"/>
          </a:solidFill>
          <a:ln w="12700">
            <a:solidFill>
              <a:srgbClr val="5B3BA8"/>
            </a:solidFill>
            <a:prstDash val="solid"/>
          </a:ln>
        </p:spPr>
      </p:sp>
      <p:sp>
        <p:nvSpPr>
          <p:cNvPr id="6" name="Content card"/>
          <p:cNvSpPr/>
          <p:nvPr/>
        </p:nvSpPr>
        <p:spPr>
          <a:xfrm>
            <a:off x="579120" y="1508760"/>
            <a:ext cx="8008620" cy="3310128"/>
          </a:xfrm>
          <a:prstGeom prst="roundRect">
            <a:avLst>
              <a:gd name="adj" fmla="val 2500"/>
            </a:avLst>
          </a:prstGeom>
          <a:solidFill>
            <a:srgbClr val="FFFFFF"/>
          </a:solidFill>
          <a:ln w="9525">
            <a:solidFill>
              <a:srgbClr val="B8BDEB"/>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11</a:t>
            </a:fld>
            <a:endParaRPr lang="en-US"/>
          </a:p>
        </p:txBody>
      </p:sp>
      <p:pic>
        <p:nvPicPr>
          <p:cNvPr id="17" name="Picture 16">
            <a:extLst>
              <a:ext uri="{FF2B5EF4-FFF2-40B4-BE49-F238E27FC236}">
                <a16:creationId xmlns:a16="http://schemas.microsoft.com/office/drawing/2014/main" id="{C81EB2B0-BE46-E35C-297E-B114C8EC8E27}"/>
              </a:ext>
            </a:extLst>
          </p:cNvPr>
          <p:cNvPicPr>
            <a:picLocks noChangeAspect="1"/>
          </p:cNvPicPr>
          <p:nvPr/>
        </p:nvPicPr>
        <p:blipFill>
          <a:blip r:embed="rId3"/>
          <a:stretch>
            <a:fillRect/>
          </a:stretch>
        </p:blipFill>
        <p:spPr>
          <a:xfrm>
            <a:off x="889471" y="1321308"/>
            <a:ext cx="7365057" cy="2711256"/>
          </a:xfrm>
          <a:prstGeom prst="rect">
            <a:avLst/>
          </a:prstGeom>
        </p:spPr>
      </p:pic>
      <p:pic>
        <p:nvPicPr>
          <p:cNvPr id="19" name="Picture 18">
            <a:extLst>
              <a:ext uri="{FF2B5EF4-FFF2-40B4-BE49-F238E27FC236}">
                <a16:creationId xmlns:a16="http://schemas.microsoft.com/office/drawing/2014/main" id="{3F97B241-9C40-D1A5-5866-A0F62939B661}"/>
              </a:ext>
            </a:extLst>
          </p:cNvPr>
          <p:cNvPicPr>
            <a:picLocks noChangeAspect="1"/>
          </p:cNvPicPr>
          <p:nvPr/>
        </p:nvPicPr>
        <p:blipFill>
          <a:blip r:embed="rId4"/>
          <a:stretch>
            <a:fillRect/>
          </a:stretch>
        </p:blipFill>
        <p:spPr>
          <a:xfrm>
            <a:off x="967740" y="3236541"/>
            <a:ext cx="7231380" cy="224763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Challenges &amp; Future Scope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12</a:t>
            </a:fld>
            <a:endParaRPr lang="en-US"/>
          </a:p>
        </p:txBody>
      </p:sp>
      <p:sp>
        <p:nvSpPr>
          <p:cNvPr id="26" name="Section label"/>
          <p:cNvSpPr txBox="1"/>
          <p:nvPr/>
        </p:nvSpPr>
        <p:spPr>
          <a:xfrm>
            <a:off x="640080" y="1828800"/>
            <a:ext cx="3657600" cy="182880"/>
          </a:xfrm>
          <a:prstGeom prst="rect">
            <a:avLst/>
          </a:prstGeom>
          <a:noFill/>
        </p:spPr>
        <p:txBody>
          <a:bodyPr wrap="square" lIns="0" tIns="0" rIns="0" bIns="0" anchor="t">
            <a:spAutoFit/>
          </a:bodyPr>
          <a:lstStyle/>
          <a:p>
            <a:pPr algn="l"/>
            <a:r>
              <a:rPr sz="900" b="1" i="0">
                <a:solidFill>
                  <a:srgbClr val="E8639F"/>
                </a:solidFill>
                <a:latin typeface="Calibri"/>
              </a:rPr>
              <a:t>CHALLENGE</a:t>
            </a:r>
          </a:p>
        </p:txBody>
      </p:sp>
      <p:sp>
        <p:nvSpPr>
          <p:cNvPr id="27" name="Section label"/>
          <p:cNvSpPr txBox="1"/>
          <p:nvPr/>
        </p:nvSpPr>
        <p:spPr>
          <a:xfrm>
            <a:off x="2880360" y="1828800"/>
            <a:ext cx="3657600" cy="182880"/>
          </a:xfrm>
          <a:prstGeom prst="rect">
            <a:avLst/>
          </a:prstGeom>
          <a:noFill/>
        </p:spPr>
        <p:txBody>
          <a:bodyPr wrap="square" lIns="0" tIns="0" rIns="0" bIns="0" anchor="t">
            <a:spAutoFit/>
          </a:bodyPr>
          <a:lstStyle/>
          <a:p>
            <a:pPr algn="l"/>
            <a:r>
              <a:rPr sz="900" b="1" i="0">
                <a:solidFill>
                  <a:srgbClr val="5B3BA8"/>
                </a:solidFill>
                <a:latin typeface="Calibri"/>
              </a:rPr>
              <a:t>HOW WE HANDLE IT</a:t>
            </a:r>
          </a:p>
        </p:txBody>
      </p:sp>
      <p:sp>
        <p:nvSpPr>
          <p:cNvPr id="28" name="Challenge"/>
          <p:cNvSpPr/>
          <p:nvPr/>
        </p:nvSpPr>
        <p:spPr>
          <a:xfrm>
            <a:off x="640080" y="2057400"/>
            <a:ext cx="2011680" cy="512064"/>
          </a:xfrm>
          <a:prstGeom prst="roundRect">
            <a:avLst>
              <a:gd name="adj" fmla="val 18000"/>
            </a:avLst>
          </a:prstGeom>
          <a:solidFill>
            <a:srgbClr val="FDE7F1"/>
          </a:solidFill>
          <a:ln w="9525">
            <a:solidFill>
              <a:srgbClr val="E8639F"/>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r>
              <a:rPr sz="1050" b="1" i="0">
                <a:solidFill>
                  <a:srgbClr val="2E1B5B"/>
                </a:solidFill>
                <a:latin typeface="Calibri"/>
              </a:rPr>
              <a:t>Kernel concentration</a:t>
            </a:r>
          </a:p>
        </p:txBody>
      </p:sp>
      <p:cxnSp>
        <p:nvCxnSpPr>
          <p:cNvPr id="29" name="Arrow"/>
          <p:cNvCxnSpPr/>
          <p:nvPr/>
        </p:nvCxnSpPr>
        <p:spPr>
          <a:xfrm>
            <a:off x="2651760" y="2313432"/>
            <a:ext cx="201168" cy="0"/>
          </a:xfrm>
          <a:prstGeom prst="line">
            <a:avLst/>
          </a:prstGeom>
          <a:ln w="19050">
            <a:solidFill>
              <a:srgbClr val="5B3B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Mitigation"/>
          <p:cNvSpPr/>
          <p:nvPr/>
        </p:nvSpPr>
        <p:spPr>
          <a:xfrm>
            <a:off x="2880360" y="2057400"/>
            <a:ext cx="2103120" cy="512064"/>
          </a:xfrm>
          <a:prstGeom prst="roundRect">
            <a:avLst>
              <a:gd name="adj" fmla="val 18000"/>
            </a:avLst>
          </a:prstGeom>
          <a:solidFill>
            <a:srgbClr val="E9E3F7"/>
          </a:solidFill>
          <a:ln w="9525">
            <a:solidFill>
              <a:srgbClr val="5B3BA8"/>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r>
              <a:rPr sz="1050" b="1" i="0">
                <a:solidFill>
                  <a:srgbClr val="2E1B5B"/>
                </a:solidFill>
                <a:latin typeface="Calibri"/>
              </a:rPr>
              <a:t>Diagnose it before training</a:t>
            </a:r>
          </a:p>
        </p:txBody>
      </p:sp>
      <p:sp>
        <p:nvSpPr>
          <p:cNvPr id="31" name="Challenge"/>
          <p:cNvSpPr/>
          <p:nvPr/>
        </p:nvSpPr>
        <p:spPr>
          <a:xfrm>
            <a:off x="640080" y="2697480"/>
            <a:ext cx="2011680" cy="512064"/>
          </a:xfrm>
          <a:prstGeom prst="roundRect">
            <a:avLst>
              <a:gd name="adj" fmla="val 18000"/>
            </a:avLst>
          </a:prstGeom>
          <a:solidFill>
            <a:srgbClr val="FDE7F1"/>
          </a:solidFill>
          <a:ln w="9525">
            <a:solidFill>
              <a:srgbClr val="E8639F"/>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r>
              <a:rPr sz="1050" b="1" i="0">
                <a:solidFill>
                  <a:srgbClr val="2E1B5B"/>
                </a:solidFill>
                <a:latin typeface="Calibri"/>
              </a:rPr>
              <a:t>Tiny public datasets</a:t>
            </a:r>
          </a:p>
        </p:txBody>
      </p:sp>
      <p:cxnSp>
        <p:nvCxnSpPr>
          <p:cNvPr id="32" name="Arrow"/>
          <p:cNvCxnSpPr/>
          <p:nvPr/>
        </p:nvCxnSpPr>
        <p:spPr>
          <a:xfrm>
            <a:off x="2651760" y="2953512"/>
            <a:ext cx="201168" cy="0"/>
          </a:xfrm>
          <a:prstGeom prst="line">
            <a:avLst/>
          </a:prstGeom>
          <a:ln w="19050">
            <a:solidFill>
              <a:srgbClr val="5B3B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Mitigation"/>
          <p:cNvSpPr/>
          <p:nvPr/>
        </p:nvSpPr>
        <p:spPr>
          <a:xfrm>
            <a:off x="2880360" y="2697480"/>
            <a:ext cx="2103120" cy="512064"/>
          </a:xfrm>
          <a:prstGeom prst="roundRect">
            <a:avLst>
              <a:gd name="adj" fmla="val 18000"/>
            </a:avLst>
          </a:prstGeom>
          <a:solidFill>
            <a:srgbClr val="E9E3F7"/>
          </a:solidFill>
          <a:ln w="9525">
            <a:solidFill>
              <a:srgbClr val="5B3BA8"/>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r>
              <a:rPr sz="1050" b="1" i="0">
                <a:solidFill>
                  <a:srgbClr val="2E1B5B"/>
                </a:solidFill>
                <a:latin typeface="Calibri"/>
              </a:rPr>
              <a:t>Conformal abstention, honest labels</a:t>
            </a:r>
          </a:p>
        </p:txBody>
      </p:sp>
      <p:sp>
        <p:nvSpPr>
          <p:cNvPr id="34" name="Challenge"/>
          <p:cNvSpPr/>
          <p:nvPr/>
        </p:nvSpPr>
        <p:spPr>
          <a:xfrm>
            <a:off x="640080" y="3337560"/>
            <a:ext cx="2011680" cy="512064"/>
          </a:xfrm>
          <a:prstGeom prst="roundRect">
            <a:avLst>
              <a:gd name="adj" fmla="val 18000"/>
            </a:avLst>
          </a:prstGeom>
          <a:solidFill>
            <a:srgbClr val="FDE7F1"/>
          </a:solidFill>
          <a:ln w="9525">
            <a:solidFill>
              <a:srgbClr val="E8639F"/>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r>
              <a:rPr sz="1050" b="1" i="0">
                <a:solidFill>
                  <a:srgbClr val="2E1B5B"/>
                </a:solidFill>
                <a:latin typeface="Calibri"/>
              </a:rPr>
              <a:t>Public data ≠ real patients</a:t>
            </a:r>
          </a:p>
        </p:txBody>
      </p:sp>
      <p:cxnSp>
        <p:nvCxnSpPr>
          <p:cNvPr id="35" name="Arrow"/>
          <p:cNvCxnSpPr/>
          <p:nvPr/>
        </p:nvCxnSpPr>
        <p:spPr>
          <a:xfrm>
            <a:off x="2651760" y="3593592"/>
            <a:ext cx="201168" cy="0"/>
          </a:xfrm>
          <a:prstGeom prst="line">
            <a:avLst/>
          </a:prstGeom>
          <a:ln w="19050">
            <a:solidFill>
              <a:srgbClr val="5B3B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Mitigation"/>
          <p:cNvSpPr/>
          <p:nvPr/>
        </p:nvSpPr>
        <p:spPr>
          <a:xfrm>
            <a:off x="2880360" y="3337560"/>
            <a:ext cx="2103120" cy="512064"/>
          </a:xfrm>
          <a:prstGeom prst="roundRect">
            <a:avLst>
              <a:gd name="adj" fmla="val 18000"/>
            </a:avLst>
          </a:prstGeom>
          <a:solidFill>
            <a:srgbClr val="E9E3F7"/>
          </a:solidFill>
          <a:ln w="9525">
            <a:solidFill>
              <a:srgbClr val="5B3BA8"/>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r>
              <a:rPr sz="1050" b="1" i="0">
                <a:solidFill>
                  <a:srgbClr val="2E1B5B"/>
                </a:solidFill>
                <a:latin typeface="Calibri"/>
              </a:rPr>
              <a:t>Synthetic demo records, no claims</a:t>
            </a:r>
          </a:p>
        </p:txBody>
      </p:sp>
      <p:sp>
        <p:nvSpPr>
          <p:cNvPr id="37" name="Challenge"/>
          <p:cNvSpPr/>
          <p:nvPr/>
        </p:nvSpPr>
        <p:spPr>
          <a:xfrm>
            <a:off x="640080" y="3977640"/>
            <a:ext cx="2011680" cy="512064"/>
          </a:xfrm>
          <a:prstGeom prst="roundRect">
            <a:avLst>
              <a:gd name="adj" fmla="val 18000"/>
            </a:avLst>
          </a:prstGeom>
          <a:solidFill>
            <a:srgbClr val="FDE7F1"/>
          </a:solidFill>
          <a:ln w="9525">
            <a:solidFill>
              <a:srgbClr val="E8639F"/>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r>
              <a:rPr sz="1050" b="1" i="0">
                <a:solidFill>
                  <a:srgbClr val="2E1B5B"/>
                </a:solidFill>
                <a:latin typeface="Calibri"/>
              </a:rPr>
              <a:t>Slow quantum simulation</a:t>
            </a:r>
          </a:p>
        </p:txBody>
      </p:sp>
      <p:cxnSp>
        <p:nvCxnSpPr>
          <p:cNvPr id="38" name="Arrow"/>
          <p:cNvCxnSpPr/>
          <p:nvPr/>
        </p:nvCxnSpPr>
        <p:spPr>
          <a:xfrm>
            <a:off x="2651760" y="4233672"/>
            <a:ext cx="201168" cy="0"/>
          </a:xfrm>
          <a:prstGeom prst="line">
            <a:avLst/>
          </a:prstGeom>
          <a:ln w="19050">
            <a:solidFill>
              <a:srgbClr val="5B3B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Mitigation"/>
          <p:cNvSpPr/>
          <p:nvPr/>
        </p:nvSpPr>
        <p:spPr>
          <a:xfrm>
            <a:off x="2880360" y="3977640"/>
            <a:ext cx="2103120" cy="512064"/>
          </a:xfrm>
          <a:prstGeom prst="roundRect">
            <a:avLst>
              <a:gd name="adj" fmla="val 18000"/>
            </a:avLst>
          </a:prstGeom>
          <a:solidFill>
            <a:srgbClr val="E9E3F7"/>
          </a:solidFill>
          <a:ln w="9525">
            <a:solidFill>
              <a:srgbClr val="5B3BA8"/>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r>
              <a:rPr sz="1050" b="1" i="0">
                <a:solidFill>
                  <a:srgbClr val="2E1B5B"/>
                </a:solidFill>
                <a:latin typeface="Calibri"/>
              </a:rPr>
              <a:t>Closed-form O(n) kernel</a:t>
            </a:r>
          </a:p>
        </p:txBody>
      </p:sp>
      <p:sp>
        <p:nvSpPr>
          <p:cNvPr id="40" name="Section label"/>
          <p:cNvSpPr txBox="1"/>
          <p:nvPr/>
        </p:nvSpPr>
        <p:spPr>
          <a:xfrm>
            <a:off x="5440680" y="1828800"/>
            <a:ext cx="3657600" cy="182880"/>
          </a:xfrm>
          <a:prstGeom prst="rect">
            <a:avLst/>
          </a:prstGeom>
          <a:noFill/>
        </p:spPr>
        <p:txBody>
          <a:bodyPr wrap="square" lIns="0" tIns="0" rIns="0" bIns="0" anchor="t">
            <a:spAutoFit/>
          </a:bodyPr>
          <a:lstStyle/>
          <a:p>
            <a:pPr algn="l"/>
            <a:r>
              <a:rPr sz="900" b="1" i="0">
                <a:solidFill>
                  <a:srgbClr val="5B3BA8"/>
                </a:solidFill>
                <a:latin typeface="Calibri"/>
              </a:rPr>
              <a:t>ROADMAP</a:t>
            </a:r>
          </a:p>
        </p:txBody>
      </p:sp>
      <p:cxnSp>
        <p:nvCxnSpPr>
          <p:cNvPr id="41" name="Timeline"/>
          <p:cNvCxnSpPr/>
          <p:nvPr/>
        </p:nvCxnSpPr>
        <p:spPr>
          <a:xfrm>
            <a:off x="5669280" y="2240280"/>
            <a:ext cx="0" cy="1920240"/>
          </a:xfrm>
          <a:prstGeom prst="line">
            <a:avLst/>
          </a:prstGeom>
          <a:ln w="38100">
            <a:solidFill>
              <a:srgbClr val="CBD1F5"/>
            </a:solidFill>
          </a:ln>
        </p:spPr>
        <p:style>
          <a:lnRef idx="2">
            <a:schemeClr val="accent1"/>
          </a:lnRef>
          <a:fillRef idx="0">
            <a:schemeClr val="accent1"/>
          </a:fillRef>
          <a:effectRef idx="1">
            <a:schemeClr val="accent1"/>
          </a:effectRef>
          <a:fontRef idx="minor">
            <a:schemeClr val="tx1"/>
          </a:fontRef>
        </p:style>
      </p:cxnSp>
      <p:sp>
        <p:nvSpPr>
          <p:cNvPr id="42" name="Milestone"/>
          <p:cNvSpPr/>
          <p:nvPr/>
        </p:nvSpPr>
        <p:spPr>
          <a:xfrm>
            <a:off x="5486400" y="2057400"/>
            <a:ext cx="365760" cy="365760"/>
          </a:xfrm>
          <a:prstGeom prst="ellipse">
            <a:avLst/>
          </a:prstGeom>
          <a:solidFill>
            <a:srgbClr val="4A63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i="0">
                <a:solidFill>
                  <a:srgbClr val="FFFFFF"/>
                </a:solidFill>
                <a:latin typeface="Calibri"/>
              </a:rPr>
              <a:t>1</a:t>
            </a:r>
          </a:p>
        </p:txBody>
      </p:sp>
      <p:sp>
        <p:nvSpPr>
          <p:cNvPr id="43" name="Milestone text"/>
          <p:cNvSpPr txBox="1"/>
          <p:nvPr/>
        </p:nvSpPr>
        <p:spPr>
          <a:xfrm>
            <a:off x="5989320" y="2020824"/>
            <a:ext cx="2560320" cy="731520"/>
          </a:xfrm>
          <a:prstGeom prst="rect">
            <a:avLst/>
          </a:prstGeom>
          <a:noFill/>
        </p:spPr>
        <p:txBody>
          <a:bodyPr wrap="square" lIns="0" tIns="0" rIns="0" bIns="0" anchor="t">
            <a:spAutoFit/>
          </a:bodyPr>
          <a:lstStyle/>
          <a:p>
            <a:pPr algn="l"/>
            <a:r>
              <a:rPr sz="1100" b="1" i="0">
                <a:solidFill>
                  <a:srgbClr val="4A63C8"/>
                </a:solidFill>
                <a:latin typeface="Calibri"/>
              </a:rPr>
              <a:t>MVP</a:t>
            </a:r>
          </a:p>
          <a:p>
            <a:pPr algn="l"/>
            <a:r>
              <a:rPr sz="1050" b="0" i="0">
                <a:solidFill>
                  <a:srgbClr val="2E1B5B"/>
                </a:solidFill>
                <a:latin typeface="Calibri"/>
              </a:rPr>
              <a:t>Dual portals, honest benchmarks, synthetic records</a:t>
            </a:r>
          </a:p>
        </p:txBody>
      </p:sp>
      <p:sp>
        <p:nvSpPr>
          <p:cNvPr id="44" name="Milestone"/>
          <p:cNvSpPr/>
          <p:nvPr/>
        </p:nvSpPr>
        <p:spPr>
          <a:xfrm>
            <a:off x="5486400" y="3017520"/>
            <a:ext cx="365760" cy="365760"/>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i="0">
                <a:solidFill>
                  <a:srgbClr val="FFFFFF"/>
                </a:solidFill>
                <a:latin typeface="Calibri"/>
              </a:rPr>
              <a:t>2</a:t>
            </a:r>
          </a:p>
        </p:txBody>
      </p:sp>
      <p:sp>
        <p:nvSpPr>
          <p:cNvPr id="45" name="Milestone text"/>
          <p:cNvSpPr txBox="1"/>
          <p:nvPr/>
        </p:nvSpPr>
        <p:spPr>
          <a:xfrm>
            <a:off x="5989320" y="2980944"/>
            <a:ext cx="2560320" cy="731520"/>
          </a:xfrm>
          <a:prstGeom prst="rect">
            <a:avLst/>
          </a:prstGeom>
          <a:noFill/>
        </p:spPr>
        <p:txBody>
          <a:bodyPr wrap="square" lIns="0" tIns="0" rIns="0" bIns="0" anchor="t">
            <a:spAutoFit/>
          </a:bodyPr>
          <a:lstStyle/>
          <a:p>
            <a:pPr algn="l"/>
            <a:r>
              <a:rPr sz="1100" b="1" i="0">
                <a:solidFill>
                  <a:srgbClr val="5B3BA8"/>
                </a:solidFill>
                <a:latin typeface="Calibri"/>
              </a:rPr>
              <a:t>NEXT</a:t>
            </a:r>
          </a:p>
          <a:p>
            <a:pPr algn="l"/>
            <a:r>
              <a:rPr sz="1050" b="0" i="0">
                <a:solidFill>
                  <a:srgbClr val="2E1B5B"/>
                </a:solidFill>
                <a:latin typeface="Calibri"/>
              </a:rPr>
              <a:t>Authentication, consent, audit trail, clinician review</a:t>
            </a:r>
          </a:p>
        </p:txBody>
      </p:sp>
      <p:sp>
        <p:nvSpPr>
          <p:cNvPr id="46" name="Milestone"/>
          <p:cNvSpPr/>
          <p:nvPr/>
        </p:nvSpPr>
        <p:spPr>
          <a:xfrm>
            <a:off x="5486400" y="3977640"/>
            <a:ext cx="365760" cy="365760"/>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i="0">
                <a:solidFill>
                  <a:srgbClr val="FFFFFF"/>
                </a:solidFill>
                <a:latin typeface="Calibri"/>
              </a:rPr>
              <a:t>3</a:t>
            </a:r>
          </a:p>
        </p:txBody>
      </p:sp>
      <p:sp>
        <p:nvSpPr>
          <p:cNvPr id="47" name="Milestone text"/>
          <p:cNvSpPr txBox="1"/>
          <p:nvPr/>
        </p:nvSpPr>
        <p:spPr>
          <a:xfrm>
            <a:off x="5989320" y="3941064"/>
            <a:ext cx="2560320" cy="731520"/>
          </a:xfrm>
          <a:prstGeom prst="rect">
            <a:avLst/>
          </a:prstGeom>
          <a:noFill/>
        </p:spPr>
        <p:txBody>
          <a:bodyPr wrap="square" lIns="0" tIns="0" rIns="0" bIns="0" anchor="t">
            <a:spAutoFit/>
          </a:bodyPr>
          <a:lstStyle/>
          <a:p>
            <a:pPr algn="l"/>
            <a:r>
              <a:rPr sz="1100" b="1" i="0">
                <a:solidFill>
                  <a:srgbClr val="E8639F"/>
                </a:solidFill>
                <a:latin typeface="Calibri"/>
              </a:rPr>
              <a:t>LATER</a:t>
            </a:r>
          </a:p>
          <a:p>
            <a:pPr algn="l"/>
            <a:r>
              <a:rPr sz="1050" b="0" i="0">
                <a:solidFill>
                  <a:srgbClr val="2E1B5B"/>
                </a:solidFill>
                <a:latin typeface="Calibri"/>
              </a:rPr>
              <a:t>Real IBM quantum hardware, error mitigation, more diseases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914400"/>
            <a:ext cx="274320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CLOSING</a:t>
            </a:r>
            <a:endParaRPr lang="en-US" sz="1000" dirty="0"/>
          </a:p>
        </p:txBody>
      </p:sp>
      <p:sp>
        <p:nvSpPr>
          <p:cNvPr id="3" name="Text 1"/>
          <p:cNvSpPr txBox="1"/>
          <p:nvPr/>
        </p:nvSpPr>
        <p:spPr>
          <a:xfrm>
            <a:off x="457200" y="1188720"/>
            <a:ext cx="4754880" cy="1554480"/>
          </a:xfrm>
          <a:prstGeom prst="rect">
            <a:avLst/>
          </a:prstGeom>
          <a:noFill/>
          <a:ln/>
        </p:spPr>
        <p:txBody>
          <a:bodyPr wrap="square" lIns="0" tIns="0" rIns="0" bIns="0" rtlCol="0" anchor="t"/>
          <a:lstStyle/>
          <a:p>
            <a:pPr marL="0" indent="0">
              <a:buNone/>
            </a:pPr>
            <a:r>
              <a:rPr lang="en-US" sz="4200" b="1" dirty="0">
                <a:solidFill>
                  <a:srgbClr val="2E1B5B"/>
                </a:solidFill>
                <a:latin typeface="Georgia" pitchFamily="34" charset="0"/>
                <a:ea typeface="Georgia" pitchFamily="34" charset="-122"/>
                <a:cs typeface="Georgia" pitchFamily="34" charset="-120"/>
              </a:rPr>
              <a:t>Thank You</a:t>
            </a:r>
            <a:endParaRPr lang="en-US" sz="4200" dirty="0"/>
          </a:p>
          <a:p>
            <a:pPr marL="0" indent="0">
              <a:buNone/>
            </a:pPr>
            <a:r>
              <a:rPr lang="en-US" sz="4200" b="1" dirty="0">
                <a:solidFill>
                  <a:srgbClr val="E8639F"/>
                </a:solidFill>
                <a:latin typeface="Georgia" pitchFamily="34" charset="0"/>
                <a:ea typeface="Georgia" pitchFamily="34" charset="-122"/>
                <a:cs typeface="Georgia" pitchFamily="34" charset="-120"/>
              </a:rPr>
              <a:t>Questions?</a:t>
            </a:r>
            <a:endParaRPr lang="en-US" sz="4200" dirty="0"/>
          </a:p>
        </p:txBody>
      </p:sp>
      <p:sp>
        <p:nvSpPr>
          <p:cNvPr id="4" name="Text 2"/>
          <p:cNvSpPr txBox="1"/>
          <p:nvPr/>
        </p:nvSpPr>
        <p:spPr>
          <a:xfrm>
            <a:off x="457200" y="2788920"/>
            <a:ext cx="4754880" cy="274320"/>
          </a:xfrm>
          <a:prstGeom prst="rect">
            <a:avLst/>
          </a:prstGeom>
          <a:noFill/>
          <a:ln/>
        </p:spPr>
        <p:txBody>
          <a:bodyPr wrap="square" lIns="0" tIns="0" rIns="0" bIns="0" rtlCol="0" anchor="t"/>
          <a:lstStyle/>
          <a:p>
            <a:pPr marL="0" indent="0">
              <a:buNone/>
            </a:pPr>
            <a:r>
              <a:rPr lang="en-US" sz="1300" i="1" dirty="0">
                <a:solidFill>
                  <a:srgbClr val="6F7399"/>
                </a:solidFill>
                <a:latin typeface="Calibri" pitchFamily="34" charset="0"/>
                <a:ea typeface="Calibri" pitchFamily="34" charset="-122"/>
                <a:cs typeface="Calibri" pitchFamily="34" charset="-120"/>
              </a:rPr>
              <a:t>Inspiring Minds. Shaping Tomorrow.</a:t>
            </a:r>
            <a:endParaRPr lang="en-US" sz="1300" dirty="0"/>
          </a:p>
        </p:txBody>
      </p:sp>
      <p:sp>
        <p:nvSpPr>
          <p:cNvPr id="5" name="Field: GITHUB REPOSITORY"/>
          <p:cNvSpPr/>
          <p:nvPr/>
        </p:nvSpPr>
        <p:spPr>
          <a:xfrm>
            <a:off x="457200" y="3291840"/>
            <a:ext cx="301752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GITHUB REPOSITORY</a:t>
            </a:r>
            <a:endParaRPr lang="en-US" sz="900" dirty="0"/>
          </a:p>
          <a:p>
            <a:r>
              <a:rPr lang="en-US" sz="1500" b="1" kern="0" spc="100" dirty="0">
                <a:solidFill>
                  <a:srgbClr val="5B3BA8"/>
                </a:solidFill>
                <a:latin typeface="Calibri" pitchFamily="34" charset="0"/>
                <a:ea typeface="Calibri" pitchFamily="34" charset="-122"/>
                <a:cs typeface="Calibri" pitchFamily="34" charset="-120"/>
                <a:hlinkClick r:id="rId3"/>
              </a:rPr>
              <a:t>Click here</a:t>
            </a:r>
            <a:endParaRPr lang="en-US" sz="1500" dirty="0"/>
          </a:p>
          <a:p>
            <a:endParaRPr lang="en-US" sz="1500" dirty="0"/>
          </a:p>
        </p:txBody>
      </p:sp>
      <p:sp>
        <p:nvSpPr>
          <p:cNvPr id="6" name="Field: DEMO VIDEO LINK"/>
          <p:cNvSpPr/>
          <p:nvPr/>
        </p:nvSpPr>
        <p:spPr>
          <a:xfrm>
            <a:off x="3566160" y="3291840"/>
            <a:ext cx="2286000" cy="548640"/>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DEMO VIDEO LINK</a:t>
            </a:r>
          </a:p>
          <a:p>
            <a:pPr marL="0" indent="0" algn="l">
              <a:buNone/>
            </a:pPr>
            <a:r>
              <a:rPr lang="en-US" sz="1500" b="1" kern="0" spc="100" dirty="0">
                <a:solidFill>
                  <a:srgbClr val="5B3BA8"/>
                </a:solidFill>
                <a:latin typeface="Calibri" pitchFamily="34" charset="0"/>
                <a:ea typeface="Calibri" pitchFamily="34" charset="-122"/>
                <a:cs typeface="Calibri" pitchFamily="34" charset="-120"/>
                <a:hlinkClick r:id="rId4"/>
              </a:rPr>
              <a:t>Click here</a:t>
            </a:r>
            <a:endParaRPr lang="en-US" sz="1500" dirty="0"/>
          </a:p>
        </p:txBody>
      </p:sp>
      <p:pic>
        <p:nvPicPr>
          <p:cNvPr id="7" name="Bloch sphere ring" descr="sphere.png"/>
          <p:cNvPicPr>
            <a:picLocks noChangeAspect="1"/>
          </p:cNvPicPr>
          <p:nvPr/>
        </p:nvPicPr>
        <p:blipFill>
          <a:blip r:embed="rId5"/>
          <a:stretch>
            <a:fillRect/>
          </a:stretch>
        </p:blipFill>
        <p:spPr>
          <a:xfrm>
            <a:off x="5486400" y="1097280"/>
            <a:ext cx="3200400" cy="3200400"/>
          </a:xfrm>
          <a:prstGeom prst="rect">
            <a:avLst/>
          </a:prstGeom>
        </p:spPr>
      </p:pic>
      <p:pic>
        <p:nvPicPr>
          <p:cNvPr id="8" name="Image 1" descr="bird1.png"/>
          <p:cNvPicPr>
            <a:picLocks noChangeAspect="1"/>
          </p:cNvPicPr>
          <p:nvPr/>
        </p:nvPicPr>
        <p:blipFill>
          <a:blip r:embed="rId6"/>
          <a:stretch>
            <a:fillRect/>
          </a:stretch>
        </p:blipFill>
        <p:spPr>
          <a:xfrm>
            <a:off x="5029200" y="914400"/>
            <a:ext cx="822960" cy="493776"/>
          </a:xfrm>
          <a:prstGeom prst="rect">
            <a:avLst/>
          </a:prstGeom>
        </p:spPr>
      </p:pic>
      <p:pic>
        <p:nvPicPr>
          <p:cNvPr id="9" name="Image 2" descr="bird2.png"/>
          <p:cNvPicPr>
            <a:picLocks noChangeAspect="1"/>
          </p:cNvPicPr>
          <p:nvPr/>
        </p:nvPicPr>
        <p:blipFill>
          <a:blip r:embed="rId7"/>
          <a:stretch>
            <a:fillRect/>
          </a:stretch>
        </p:blipFill>
        <p:spPr>
          <a:xfrm>
            <a:off x="4754880" y="3840480"/>
            <a:ext cx="548640" cy="329184"/>
          </a:xfrm>
          <a:prstGeom prst="rect">
            <a:avLst/>
          </a:prstGeom>
        </p:spPr>
      </p:pic>
      <p:pic>
        <p:nvPicPr>
          <p:cNvPr id="10" name="Image 3" descr="bird3.png"/>
          <p:cNvPicPr>
            <a:picLocks noChangeAspect="1"/>
          </p:cNvPicPr>
          <p:nvPr/>
        </p:nvPicPr>
        <p:blipFill>
          <a:blip r:embed="rId8"/>
          <a:stretch>
            <a:fillRect/>
          </a:stretch>
        </p:blipFill>
        <p:spPr>
          <a:xfrm>
            <a:off x="8229600" y="4023360"/>
            <a:ext cx="457200" cy="274320"/>
          </a:xfrm>
          <a:prstGeom prst="rect">
            <a:avLst/>
          </a:prstGeom>
        </p:spPr>
      </p:pic>
    </p:spTree>
  </p:cSld>
  <p:clrMapOvr>
    <a:masterClrMapping/>
  </p:clrMapOvr>
</p:sld>
</file>

<file path=ppt/theme/theme1.xml><?xml version="1.0" encoding="utf-8"?>
<a:theme xmlns:a="http://schemas.openxmlformats.org/drawingml/2006/main" name="Qiskit Fall Fest">
  <a:themeElements>
    <a:clrScheme name="Qiskit Fall Fest">
      <a:dk1>
        <a:srgbClr val="2E1B5B"/>
      </a:dk1>
      <a:lt1>
        <a:srgbClr val="FFFFFF"/>
      </a:lt1>
      <a:dk2>
        <a:srgbClr val="4B2BA8"/>
      </a:dk2>
      <a:lt2>
        <a:srgbClr val="DDE2FC"/>
      </a:lt2>
      <a:accent1>
        <a:srgbClr val="E0558F"/>
      </a:accent1>
      <a:accent2>
        <a:srgbClr val="6B3FD4"/>
      </a:accent2>
      <a:accent3>
        <a:srgbClr val="F5C33B"/>
      </a:accent3>
      <a:accent4>
        <a:srgbClr val="3B82F6"/>
      </a:accent4>
      <a:accent5>
        <a:srgbClr val="7B58B8"/>
      </a:accent5>
      <a:accent6>
        <a:srgbClr val="2BB5A0"/>
      </a:accent6>
      <a:hlink>
        <a:srgbClr val="6B3FD4"/>
      </a:hlink>
      <a:folHlink>
        <a:srgbClr val="4B2BA8"/>
      </a:folHlink>
    </a:clrScheme>
    <a:fontScheme name="Qiskit Fall Fes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TotalTime>
  <Words>1476</Words>
  <Application>Microsoft Office PowerPoint</Application>
  <PresentationFormat>On-screen Show (16:9)</PresentationFormat>
  <Paragraphs>218</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Calibri</vt:lpstr>
      <vt:lpstr>Georgia</vt:lpstr>
      <vt:lpstr>Nirmala UI</vt:lpstr>
      <vt:lpstr>Qiskit Fall Fest</vt:lpstr>
      <vt:lpstr>PowerPoint Presentation</vt:lpstr>
      <vt:lpstr>Problem Statement</vt:lpstr>
      <vt:lpstr>Objectives &amp; Novelty</vt:lpstr>
      <vt:lpstr>Solution &amp; Quantum Advantage</vt:lpstr>
      <vt:lpstr>Product Experience</vt:lpstr>
      <vt:lpstr>Algorithm &amp; Circuit Design</vt:lpstr>
      <vt:lpstr>Implementation &amp; Tech Stack</vt:lpstr>
      <vt:lpstr>Results &amp; Analysis</vt:lpstr>
      <vt:lpstr>Why Quantum Wins, or Loses</vt:lpstr>
      <vt:lpstr>Decision Support</vt:lpstr>
      <vt:lpstr>Impact &amp; Real-World Applications</vt:lpstr>
      <vt:lpstr>Challenges &amp;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Pratham Wadiyar</dc:creator>
  <cp:lastModifiedBy>Pratham Wadiyar</cp:lastModifiedBy>
  <cp:revision>5</cp:revision>
  <dcterms:modified xsi:type="dcterms:W3CDTF">2026-10-23T11:28:00Z</dcterms:modified>
</cp:coreProperties>
</file>